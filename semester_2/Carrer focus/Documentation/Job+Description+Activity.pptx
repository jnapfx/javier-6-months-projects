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5696"/>
    <a:srgbClr val="BD4C5F"/>
    <a:srgbClr val="585858"/>
    <a:srgbClr val="BC4B5F"/>
    <a:srgbClr val="BD4C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6" autoAdjust="0"/>
    <p:restoredTop sz="95814"/>
  </p:normalViewPr>
  <p:slideViewPr>
    <p:cSldViewPr snapToGrid="0">
      <p:cViewPr varScale="1">
        <p:scale>
          <a:sx n="145" d="100"/>
          <a:sy n="145" d="100"/>
        </p:scale>
        <p:origin x="12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766069-F6C6-47F5-A400-4B9BD977C8EF}" type="datetimeFigureOut">
              <a:rPr lang="en-US" smtClean="0"/>
              <a:t>6/12/25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6C583-F937-4B6C-89F1-B3B7744FD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430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B07F1F-DAA0-4087-B6F2-A60EDC6F8B2E}" type="datetimeFigureOut">
              <a:rPr lang="en-US" smtClean="0"/>
              <a:t>6/12/25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ED24B-03C7-4558-9DB8-E892D3E37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24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E3CE2F-09C4-6C29-0E91-BE91F3991E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(1)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5C050D-D088-6312-43B7-36B5F9155F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6653" y="4832114"/>
            <a:ext cx="5355347" cy="2029972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FC18CB-6A25-6B71-D3B1-AB9B7424F66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086"/>
            <a:ext cx="5102362" cy="15331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B86D65-FCF9-9BBA-1BA6-48742DBB190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22" y="252886"/>
            <a:ext cx="2706908" cy="9607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23CD7A-9ED4-498B-236F-489ADB2BD093}"/>
              </a:ext>
            </a:extLst>
          </p:cNvPr>
          <p:cNvSpPr txBox="1"/>
          <p:nvPr userDrawn="1"/>
        </p:nvSpPr>
        <p:spPr>
          <a:xfrm>
            <a:off x="7404444" y="6405017"/>
            <a:ext cx="478755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b="1" i="1" dirty="0">
                <a:solidFill>
                  <a:schemeClr val="bg1"/>
                </a:solidFill>
                <a:latin typeface="Helvetica" pitchFamily="2" charset="0"/>
              </a:rPr>
              <a:t>Digitally-focused  |  Humanity-centric</a:t>
            </a:r>
          </a:p>
        </p:txBody>
      </p:sp>
    </p:spTree>
    <p:extLst>
      <p:ext uri="{BB962C8B-B14F-4D97-AF65-F5344CB8AC3E}">
        <p14:creationId xmlns:p14="http://schemas.microsoft.com/office/powerpoint/2010/main" val="8846590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 b="1">
                <a:solidFill>
                  <a:srgbClr val="BD4C5F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585858"/>
                </a:solidFill>
                <a:latin typeface="Helvetica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866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69E59-8F90-2CEA-C0E0-678ADDA83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7E5696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B8A65-62E9-891B-B5E3-A9B4B9EB5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</p:spPr>
        <p:txBody>
          <a:bodyPr vert="horz"/>
          <a:lstStyle>
            <a:lvl1pPr>
              <a:defRPr>
                <a:solidFill>
                  <a:srgbClr val="585858"/>
                </a:solidFill>
                <a:latin typeface="Helvetica" pitchFamily="2" charset="0"/>
              </a:defRPr>
            </a:lvl1pPr>
            <a:lvl2pPr marL="685800" indent="-228600">
              <a:buSzPct val="77000"/>
              <a:buFont typeface="Courier New" panose="02070309020205020404" pitchFamily="49" charset="0"/>
              <a:buChar char="o"/>
              <a:defRPr>
                <a:solidFill>
                  <a:srgbClr val="585858"/>
                </a:solidFill>
                <a:latin typeface="Helvetica" pitchFamily="2" charset="0"/>
              </a:defRPr>
            </a:lvl2pPr>
            <a:lvl3pPr marL="1143000" indent="-228600">
              <a:buSzPct val="84000"/>
              <a:buFont typeface="Wingdings" pitchFamily="2" charset="2"/>
              <a:buChar char="Ø"/>
              <a:defRPr>
                <a:solidFill>
                  <a:srgbClr val="585858"/>
                </a:solidFill>
                <a:latin typeface="Helvetica" pitchFamily="2" charset="0"/>
              </a:defRPr>
            </a:lvl3pPr>
            <a:lvl4pPr>
              <a:defRPr>
                <a:solidFill>
                  <a:srgbClr val="585858"/>
                </a:solidFill>
                <a:latin typeface="Helvetica" pitchFamily="2" charset="0"/>
              </a:defRPr>
            </a:lvl4pPr>
            <a:lvl5pPr>
              <a:defRPr>
                <a:solidFill>
                  <a:srgbClr val="585858"/>
                </a:solidFill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67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7E5696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585858"/>
                </a:solidFill>
                <a:latin typeface="Helvetica" pitchFamily="2" charset="0"/>
              </a:defRPr>
            </a:lvl1pPr>
            <a:lvl2pPr>
              <a:defRPr>
                <a:solidFill>
                  <a:srgbClr val="585858"/>
                </a:solidFill>
                <a:latin typeface="Helvetica" pitchFamily="2" charset="0"/>
              </a:defRPr>
            </a:lvl2pPr>
            <a:lvl3pPr>
              <a:defRPr>
                <a:solidFill>
                  <a:srgbClr val="585858"/>
                </a:solidFill>
                <a:latin typeface="Helvetica" pitchFamily="2" charset="0"/>
              </a:defRPr>
            </a:lvl3pPr>
            <a:lvl4pPr>
              <a:defRPr>
                <a:solidFill>
                  <a:srgbClr val="585858"/>
                </a:solidFill>
                <a:latin typeface="Helvetica" pitchFamily="2" charset="0"/>
              </a:defRPr>
            </a:lvl4pPr>
            <a:lvl5pPr>
              <a:defRPr>
                <a:solidFill>
                  <a:srgbClr val="585858"/>
                </a:solidFill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585858"/>
                </a:solidFill>
                <a:latin typeface="Helvetica" pitchFamily="2" charset="0"/>
              </a:defRPr>
            </a:lvl1pPr>
            <a:lvl2pPr>
              <a:defRPr>
                <a:solidFill>
                  <a:srgbClr val="585858"/>
                </a:solidFill>
                <a:latin typeface="Helvetica" pitchFamily="2" charset="0"/>
              </a:defRPr>
            </a:lvl2pPr>
            <a:lvl3pPr>
              <a:defRPr>
                <a:solidFill>
                  <a:srgbClr val="585858"/>
                </a:solidFill>
                <a:latin typeface="Helvetica" pitchFamily="2" charset="0"/>
              </a:defRPr>
            </a:lvl3pPr>
            <a:lvl4pPr>
              <a:defRPr>
                <a:solidFill>
                  <a:srgbClr val="585858"/>
                </a:solidFill>
                <a:latin typeface="Helvetica" pitchFamily="2" charset="0"/>
              </a:defRPr>
            </a:lvl4pPr>
            <a:lvl5pPr>
              <a:defRPr>
                <a:solidFill>
                  <a:srgbClr val="585858"/>
                </a:solidFill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3908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rgbClr val="7E5696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BD4C5F"/>
                </a:solidFill>
                <a:latin typeface="Helvetica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rgbClr val="585858"/>
                </a:solidFill>
                <a:latin typeface="Helvetica" pitchFamily="2" charset="0"/>
              </a:defRPr>
            </a:lvl1pPr>
            <a:lvl2pPr>
              <a:defRPr>
                <a:solidFill>
                  <a:srgbClr val="585858"/>
                </a:solidFill>
                <a:latin typeface="Helvetica" pitchFamily="2" charset="0"/>
              </a:defRPr>
            </a:lvl2pPr>
            <a:lvl3pPr>
              <a:defRPr>
                <a:solidFill>
                  <a:srgbClr val="585858"/>
                </a:solidFill>
                <a:latin typeface="Helvetica" pitchFamily="2" charset="0"/>
              </a:defRPr>
            </a:lvl3pPr>
            <a:lvl4pPr>
              <a:defRPr>
                <a:solidFill>
                  <a:srgbClr val="585858"/>
                </a:solidFill>
                <a:latin typeface="Helvetica" pitchFamily="2" charset="0"/>
              </a:defRPr>
            </a:lvl4pPr>
            <a:lvl5pPr>
              <a:defRPr>
                <a:solidFill>
                  <a:srgbClr val="585858"/>
                </a:solidFill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BD4C5F"/>
                </a:solidFill>
                <a:latin typeface="Helvetica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rgbClr val="585858"/>
                </a:solidFill>
                <a:latin typeface="Helvetica" pitchFamily="2" charset="0"/>
              </a:defRPr>
            </a:lvl1pPr>
            <a:lvl2pPr>
              <a:defRPr>
                <a:solidFill>
                  <a:srgbClr val="585858"/>
                </a:solidFill>
                <a:latin typeface="Helvetica" pitchFamily="2" charset="0"/>
              </a:defRPr>
            </a:lvl2pPr>
            <a:lvl3pPr>
              <a:defRPr>
                <a:solidFill>
                  <a:srgbClr val="585858"/>
                </a:solidFill>
                <a:latin typeface="Helvetica" pitchFamily="2" charset="0"/>
              </a:defRPr>
            </a:lvl3pPr>
            <a:lvl4pPr>
              <a:defRPr>
                <a:solidFill>
                  <a:srgbClr val="585858"/>
                </a:solidFill>
                <a:latin typeface="Helvetica" pitchFamily="2" charset="0"/>
              </a:defRPr>
            </a:lvl4pPr>
            <a:lvl5pPr>
              <a:defRPr>
                <a:solidFill>
                  <a:srgbClr val="585858"/>
                </a:solidFill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0515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7E5696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1006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4214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5799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6548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2877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69" y="6396599"/>
            <a:ext cx="735461" cy="26104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213" y="2641600"/>
            <a:ext cx="3365787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48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7E5696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585858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85858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858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85858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85858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40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76C89D0-A5BE-6AED-CF50-C8E3854BA0E7}"/>
              </a:ext>
            </a:extLst>
          </p:cNvPr>
          <p:cNvSpPr txBox="1"/>
          <p:nvPr/>
        </p:nvSpPr>
        <p:spPr>
          <a:xfrm>
            <a:off x="274617" y="895662"/>
            <a:ext cx="11566071" cy="4694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1. Job Title and Summary</a:t>
            </a:r>
            <a:b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What is the role called?</a:t>
            </a:r>
            <a:b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Write a short 2–3 sentence summary that explains what the role does and why it exists.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2. Responsibilities</a:t>
            </a:r>
            <a:b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List 5–7 tasks or duties this role performs regularly.</a:t>
            </a:r>
            <a:b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Example: “Maintain backend systems using Node.js,” “Respond to cybersecurity alerts.”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3. Required Skills and Tools</a:t>
            </a:r>
            <a:b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What programming languages, tools, platforms, or soft skills are essential for this job?</a:t>
            </a:r>
            <a:b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Example: Python, Linux, teamwork, Git.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4. Sample Deliverables</a:t>
            </a:r>
            <a:b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What kind of work or projects would someone in this job create or be responsible for?</a:t>
            </a:r>
            <a:b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Example: incident report, API endpoint, dashboard, 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903BC70-FACF-ADC5-A43E-C2670B9FC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12" y="249382"/>
            <a:ext cx="10515600" cy="695134"/>
          </a:xfrm>
        </p:spPr>
        <p:txBody>
          <a:bodyPr/>
          <a:lstStyle/>
          <a:p>
            <a:r>
              <a:rPr lang="en-US" dirty="0"/>
              <a:t>Job Description</a:t>
            </a:r>
          </a:p>
        </p:txBody>
      </p:sp>
    </p:spTree>
    <p:extLst>
      <p:ext uri="{BB962C8B-B14F-4D97-AF65-F5344CB8AC3E}">
        <p14:creationId xmlns:p14="http://schemas.microsoft.com/office/powerpoint/2010/main" val="860493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AAB3638-9BF2-B2E6-DBEE-EAC883FE5BB7}"/>
              </a:ext>
            </a:extLst>
          </p:cNvPr>
          <p:cNvSpPr txBox="1">
            <a:spLocks/>
          </p:cNvSpPr>
          <p:nvPr/>
        </p:nvSpPr>
        <p:spPr>
          <a:xfrm>
            <a:off x="351312" y="1533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7E5696"/>
                </a:solidFill>
                <a:latin typeface="Helvetica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Workplace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5BC694-CFFD-26DE-75F2-2E812710E327}"/>
              </a:ext>
            </a:extLst>
          </p:cNvPr>
          <p:cNvSpPr txBox="1"/>
          <p:nvPr/>
        </p:nvSpPr>
        <p:spPr>
          <a:xfrm>
            <a:off x="760021" y="1478905"/>
            <a:ext cx="10106891" cy="273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5. Ideal Work Environment</a:t>
            </a: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What kind of company is this job at? (startup, nonprofit, large tech?)</a:t>
            </a: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What is the work style? (independent, team-based, structured?)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6. Growth Style and Rigor</a:t>
            </a: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How fast-paced or intense is the work?</a:t>
            </a: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Is there mentorship, structure, freedom, or pressure?</a:t>
            </a:r>
          </a:p>
        </p:txBody>
      </p:sp>
    </p:spTree>
    <p:extLst>
      <p:ext uri="{BB962C8B-B14F-4D97-AF65-F5344CB8AC3E}">
        <p14:creationId xmlns:p14="http://schemas.microsoft.com/office/powerpoint/2010/main" val="1187407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67EF08A1-8A2D-8147-85A3-7463675FCE1B}" vid="{3E80FA0F-F38D-8049-B8ED-24012407F1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30561f8-3a58-4d5a-99f5-e5bf032bbe8e">
      <Terms xmlns="http://schemas.microsoft.com/office/infopath/2007/PartnerControls"/>
    </lcf76f155ced4ddcb4097134ff3c332f>
    <TaxCatchAll xmlns="5e9b80ff-26ff-4136-90e7-92d5df22693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C38FE0D61D5046BB8E8D30AC84F4CC" ma:contentTypeVersion="13" ma:contentTypeDescription="Create a new document." ma:contentTypeScope="" ma:versionID="f594c1f6c452f8c7ddd3e061233fab00">
  <xsd:schema xmlns:xsd="http://www.w3.org/2001/XMLSchema" xmlns:xs="http://www.w3.org/2001/XMLSchema" xmlns:p="http://schemas.microsoft.com/office/2006/metadata/properties" xmlns:ns2="330561f8-3a58-4d5a-99f5-e5bf032bbe8e" xmlns:ns3="5e9b80ff-26ff-4136-90e7-92d5df226937" targetNamespace="http://schemas.microsoft.com/office/2006/metadata/properties" ma:root="true" ma:fieldsID="181fbdcbbeed63ea09858cc38d456c6f" ns2:_="" ns3:_="">
    <xsd:import namespace="330561f8-3a58-4d5a-99f5-e5bf032bbe8e"/>
    <xsd:import namespace="5e9b80ff-26ff-4136-90e7-92d5df22693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0561f8-3a58-4d5a-99f5-e5bf032bbe8e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ba6dbf3b-0b42-49fe-8ca0-47f009b506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9b80ff-26ff-4136-90e7-92d5df22693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76af52df-4389-4476-830d-7e379b9486d2}" ma:internalName="TaxCatchAll" ma:showField="CatchAllData" ma:web="5e9b80ff-26ff-4136-90e7-92d5df2269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B0F0CF2-8870-49D0-9788-642D6C022A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5080A1-27FD-4064-9E01-01F8D02423D4}">
  <ds:schemaRefs>
    <ds:schemaRef ds:uri="http://www.w3.org/XML/1998/namespace"/>
    <ds:schemaRef ds:uri="http://schemas.microsoft.com/office/2006/documentManagement/types"/>
    <ds:schemaRef ds:uri="5e9b80ff-26ff-4136-90e7-92d5df226937"/>
    <ds:schemaRef ds:uri="http://purl.org/dc/elements/1.1/"/>
    <ds:schemaRef ds:uri="http://schemas.microsoft.com/office/2006/metadata/properties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330561f8-3a58-4d5a-99f5-e5bf032bbe8e"/>
  </ds:schemaRefs>
</ds:datastoreItem>
</file>

<file path=customXml/itemProps3.xml><?xml version="1.0" encoding="utf-8"?>
<ds:datastoreItem xmlns:ds="http://schemas.openxmlformats.org/officeDocument/2006/customXml" ds:itemID="{D1789153-6AF8-4C0D-A854-28161CDE65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0561f8-3a58-4d5a-99f5-e5bf032bbe8e"/>
    <ds:schemaRef ds:uri="5e9b80ff-26ff-4136-90e7-92d5df2269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</TotalTime>
  <Words>211</Words>
  <Application>Microsoft Macintosh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Cambria</vt:lpstr>
      <vt:lpstr>Courier New</vt:lpstr>
      <vt:lpstr>Helvetica</vt:lpstr>
      <vt:lpstr>Wingdings</vt:lpstr>
      <vt:lpstr>Office Theme</vt:lpstr>
      <vt:lpstr>PowerPoint Presentation</vt:lpstr>
      <vt:lpstr>Job Description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Caitlin Knecht</dc:creator>
  <cp:lastModifiedBy>Kyley Komschlies</cp:lastModifiedBy>
  <cp:revision>9</cp:revision>
  <cp:lastPrinted>2025-04-17T20:11:36Z</cp:lastPrinted>
  <dcterms:created xsi:type="dcterms:W3CDTF">2023-06-12T15:38:38Z</dcterms:created>
  <dcterms:modified xsi:type="dcterms:W3CDTF">2025-06-12T15:24:27Z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0x01010083C38FE0D61D5046BB8E8D30AC84F4CC</vt:lpwstr>
  </property>
  <property fmtid="{D5CDD505-2E9C-101B-9397-08002B2CF9AE}" pid="3" name="Order">
    <vt:r8>1900</vt:r8>
  </property>
  <property fmtid="{D5CDD505-2E9C-101B-9397-08002B2CF9AE}" pid="4" name="MediaServiceImageTags">
    <vt:lpwstr/>
  </property>
</Properties>
</file>