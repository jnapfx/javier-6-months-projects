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0"/>
  </p:notesMasterIdLst>
  <p:sldIdLst>
    <p:sldId id="256" r:id="rId2"/>
    <p:sldId id="258" r:id="rId3"/>
    <p:sldId id="257" r:id="rId4"/>
    <p:sldId id="298" r:id="rId5"/>
    <p:sldId id="266" r:id="rId6"/>
    <p:sldId id="262" r:id="rId7"/>
    <p:sldId id="264" r:id="rId8"/>
    <p:sldId id="300" r:id="rId9"/>
    <p:sldId id="299" r:id="rId10"/>
    <p:sldId id="302" r:id="rId11"/>
    <p:sldId id="261" r:id="rId12"/>
    <p:sldId id="304" r:id="rId13"/>
    <p:sldId id="305" r:id="rId14"/>
    <p:sldId id="303" r:id="rId15"/>
    <p:sldId id="301" r:id="rId16"/>
    <p:sldId id="273" r:id="rId17"/>
    <p:sldId id="259" r:id="rId18"/>
    <p:sldId id="281" r:id="rId19"/>
  </p:sldIdLst>
  <p:sldSz cx="9144000" cy="5143500" type="screen16x9"/>
  <p:notesSz cx="6858000" cy="9144000"/>
  <p:embeddedFontLst>
    <p:embeddedFont>
      <p:font typeface="Lexend Deca" pitchFamily="2" charset="-78"/>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138BE6-E374-4A1A-BE6D-9E52B14417BE}">
  <a:tblStyle styleId="{1A138BE6-E374-4A1A-BE6D-9E52B14417B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0286F9A-8295-4760-8310-7838FB866F3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65936"/>
  </p:normalViewPr>
  <p:slideViewPr>
    <p:cSldViewPr snapToGrid="0">
      <p:cViewPr varScale="1">
        <p:scale>
          <a:sx n="101" d="100"/>
          <a:sy n="101" d="100"/>
        </p:scale>
        <p:origin x="1888"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indent="0">
              <a:buNone/>
            </a:pPr>
            <a:r>
              <a:rPr lang="en-US" b="0" i="0" u="none" strike="noStrike" dirty="0">
                <a:solidFill>
                  <a:srgbClr val="000000"/>
                </a:solidFill>
                <a:effectLst/>
              </a:rPr>
              <a:t>Hi, I’m Javier Napoles. I’m originally from Venezuela, and I’ve been living in Stamford for about five years.</a:t>
            </a:r>
          </a:p>
          <a:p>
            <a:pPr marL="139700" indent="0">
              <a:buNone/>
            </a:pPr>
            <a:r>
              <a:rPr lang="en-US" b="0" i="0" u="none" strike="noStrike" dirty="0">
                <a:solidFill>
                  <a:srgbClr val="000000"/>
                </a:solidFill>
                <a:effectLst/>
              </a:rPr>
              <a:t>I’m a graphic designer currently transitioning into the field of cybersecurity.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 name="Google Shape;6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 SOC analyst is a cybersecurity professional who </a:t>
            </a:r>
            <a:r>
              <a:rPr lang="en-US" b="1" i="0" u="none" strike="noStrike" dirty="0">
                <a:solidFill>
                  <a:srgbClr val="000000"/>
                </a:solidFill>
                <a:effectLst/>
              </a:rPr>
              <a:t>monitors networks, systems, and security alerts</a:t>
            </a:r>
            <a:r>
              <a:rPr lang="en-US" sz="1100" b="0" i="0" u="none" strike="noStrike" cap="none" dirty="0">
                <a:solidFill>
                  <a:srgbClr val="000000"/>
                </a:solidFill>
                <a:effectLst/>
                <a:latin typeface="Arial"/>
                <a:ea typeface="Arial"/>
                <a:cs typeface="Arial"/>
                <a:sym typeface="Arial"/>
              </a:rPr>
              <a:t> to detect potential threats in real time. They are the </a:t>
            </a:r>
            <a:r>
              <a:rPr lang="en-US" b="1" i="0" u="none" strike="noStrike" dirty="0">
                <a:solidFill>
                  <a:srgbClr val="000000"/>
                </a:solidFill>
                <a:effectLst/>
              </a:rPr>
              <a:t>first line of security</a:t>
            </a:r>
            <a:r>
              <a:rPr lang="en-US" sz="1100" b="0" i="0" u="none" strike="noStrike" cap="none" dirty="0">
                <a:solidFill>
                  <a:srgbClr val="000000"/>
                </a:solidFill>
                <a:effectLst/>
                <a:latin typeface="Arial"/>
                <a:ea typeface="Arial"/>
                <a:cs typeface="Arial"/>
                <a:sym typeface="Arial"/>
              </a:rPr>
              <a:t>, analyzing data, investigating suspicious activity, and responding to incidents to protect the organization from cyber attacks.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They respond quickly to security incidents, contain threats, investigate breaches, and carry out recovery procedures. They are essential for keeping the organization safe and preventing cyber attacks from causing serious damage.</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E3BBE809-8F08-4B2E-AC5C-9593314D03B2}"/>
            </a:ext>
          </a:extLst>
        </p:cNvPr>
        <p:cNvGrpSpPr/>
        <p:nvPr/>
      </p:nvGrpSpPr>
      <p:grpSpPr>
        <a:xfrm>
          <a:off x="0" y="0"/>
          <a:ext cx="0" cy="0"/>
          <a:chOff x="0" y="0"/>
          <a:chExt cx="0" cy="0"/>
        </a:xfrm>
      </p:grpSpPr>
      <p:sp>
        <p:nvSpPr>
          <p:cNvPr id="68" name="Google Shape;68;g3606f1c2d_30:notes">
            <a:extLst>
              <a:ext uri="{FF2B5EF4-FFF2-40B4-BE49-F238E27FC236}">
                <a16:creationId xmlns:a16="http://schemas.microsoft.com/office/drawing/2014/main" id="{D2F4E534-99F9-5CEA-6064-37FB0A54F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 name="Google Shape;69;g3606f1c2d_30:notes">
            <a:extLst>
              <a:ext uri="{FF2B5EF4-FFF2-40B4-BE49-F238E27FC236}">
                <a16:creationId xmlns:a16="http://schemas.microsoft.com/office/drawing/2014/main" id="{951B9C86-5B7A-5164-2F55-228845A09E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01600" indent="0">
              <a:buNone/>
            </a:pPr>
            <a:r>
              <a:rPr lang="en-US" sz="1400" b="1" dirty="0"/>
              <a:t>Personal Motivation &amp; Background</a:t>
            </a:r>
          </a:p>
          <a:p>
            <a:pPr marL="101600" indent="0">
              <a:buNone/>
            </a:pPr>
            <a:r>
              <a:rPr lang="en-US" sz="1100" dirty="0"/>
              <a:t>My background in graphic design has given me a unique perspective on problem-solving and creative thinking. This project combines my passion for technology with my desire to prevent cyber threats and protect organizations from digital attacks.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101600" indent="0">
              <a:buNone/>
            </a:pPr>
            <a:r>
              <a:rPr lang="en-US" sz="1400" b="1" dirty="0"/>
              <a:t> Creative Problem Solving</a:t>
            </a:r>
          </a:p>
          <a:p>
            <a:pPr marL="101600" indent="0">
              <a:buNone/>
            </a:pPr>
            <a:r>
              <a:rPr lang="en-US" sz="1100" b="0" i="0" u="none" strike="noStrike" cap="none" dirty="0">
                <a:solidFill>
                  <a:srgbClr val="000000"/>
                </a:solidFill>
                <a:effectLst/>
                <a:latin typeface="Arial"/>
                <a:ea typeface="Arial"/>
                <a:cs typeface="Arial"/>
                <a:sym typeface="Arial"/>
              </a:rPr>
              <a:t>Applying problem-solving skills to cybersecurity challenges, improving threat detection and network protection.</a:t>
            </a:r>
          </a:p>
          <a:p>
            <a:pPr marL="101600" indent="0">
              <a:buNone/>
            </a:pPr>
            <a:endParaRPr lang="en-US" sz="1100" dirty="0"/>
          </a:p>
          <a:p>
            <a:pPr marL="101600" indent="0">
              <a:buNone/>
            </a:pPr>
            <a:r>
              <a:rPr lang="en-US" sz="1400" b="1" dirty="0"/>
              <a:t> Technical Implementation</a:t>
            </a:r>
          </a:p>
          <a:p>
            <a:pPr marL="101600" indent="0">
              <a:buNone/>
            </a:pPr>
            <a:r>
              <a:rPr lang="en-US" sz="1100" b="0" i="0" u="none" strike="noStrike" cap="none" dirty="0">
                <a:solidFill>
                  <a:srgbClr val="000000"/>
                </a:solidFill>
                <a:effectLst/>
                <a:latin typeface="Arial"/>
                <a:ea typeface="Arial"/>
                <a:cs typeface="Arial"/>
                <a:sym typeface="Arial"/>
              </a:rPr>
              <a:t>combining analytical skills and hands-on experience to build security monitoring systems and manage incident response.</a:t>
            </a:r>
            <a:endParaRPr dirty="0"/>
          </a:p>
        </p:txBody>
      </p:sp>
    </p:spTree>
    <p:extLst>
      <p:ext uri="{BB962C8B-B14F-4D97-AF65-F5344CB8AC3E}">
        <p14:creationId xmlns:p14="http://schemas.microsoft.com/office/powerpoint/2010/main" val="740709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8" name="Google Shape;10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D" sz="1100" b="0" i="0" u="none" strike="noStrike" cap="none" dirty="0">
                <a:solidFill>
                  <a:srgbClr val="000000"/>
                </a:solidFill>
                <a:effectLst/>
                <a:latin typeface="Arial"/>
                <a:ea typeface="Arial"/>
                <a:cs typeface="Arial"/>
                <a:sym typeface="Arial"/>
              </a:rPr>
              <a:t>This project simulates the core responsibilities of a SOC Analyst by building a functional lab environment using virtual machines and open-source tools. It emphasizes practical skills in threat detection, alert triage, and incident response.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9" name="Google Shape;13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b="1" dirty="0">
                <a:solidFill>
                  <a:schemeClr val="bg1"/>
                </a:solidFill>
              </a:rPr>
              <a:t>Virtualizations &amp; OS Platforms</a:t>
            </a:r>
          </a:p>
          <a:p>
            <a:pPr marL="285750" indent="-285750"/>
            <a:r>
              <a:rPr lang="en-US" sz="1100" b="1" dirty="0">
                <a:solidFill>
                  <a:schemeClr val="bg1"/>
                </a:solidFill>
              </a:rPr>
              <a:t>UTM</a:t>
            </a:r>
            <a:r>
              <a:rPr lang="en-US" sz="1100" dirty="0">
                <a:solidFill>
                  <a:schemeClr val="bg1"/>
                </a:solidFill>
              </a:rPr>
              <a:t> for virtual machine management and network simulation</a:t>
            </a:r>
          </a:p>
          <a:p>
            <a:pPr marL="285750" indent="-285750"/>
            <a:r>
              <a:rPr lang="en-US" sz="1100" b="1" dirty="0">
                <a:solidFill>
                  <a:schemeClr val="bg1"/>
                </a:solidFill>
              </a:rPr>
              <a:t>Parrot OS </a:t>
            </a:r>
            <a:r>
              <a:rPr lang="en-US" sz="1100" dirty="0">
                <a:solidFill>
                  <a:schemeClr val="bg1"/>
                </a:solidFill>
              </a:rPr>
              <a:t>as security-focused agents for monitoring</a:t>
            </a:r>
          </a:p>
          <a:p>
            <a:pPr marL="285750" indent="-285750"/>
            <a:r>
              <a:rPr lang="en-US" sz="1100" b="1" dirty="0">
                <a:solidFill>
                  <a:schemeClr val="bg1"/>
                </a:solidFill>
              </a:rPr>
              <a:t>Kali Linux </a:t>
            </a:r>
            <a:r>
              <a:rPr lang="en-US" sz="1100" dirty="0">
                <a:solidFill>
                  <a:schemeClr val="bg1"/>
                </a:solidFill>
              </a:rPr>
              <a:t>for penetration testing and attack simulation</a:t>
            </a:r>
          </a:p>
          <a:p>
            <a:pPr marL="285750" indent="-285750"/>
            <a:endParaRPr lang="en-US" sz="1100" dirty="0">
              <a:solidFill>
                <a:schemeClr val="bg1"/>
              </a:solidFill>
            </a:endParaRPr>
          </a:p>
          <a:p>
            <a:pPr marL="0" indent="0">
              <a:buFont typeface="Muli"/>
              <a:buNone/>
            </a:pPr>
            <a:r>
              <a:rPr lang="en-US" b="1" dirty="0">
                <a:solidFill>
                  <a:schemeClr val="bg1"/>
                </a:solidFill>
              </a:rPr>
              <a:t>Detection &amp; Visualization Tools</a:t>
            </a:r>
          </a:p>
          <a:p>
            <a:pPr marL="285750" indent="-285750"/>
            <a:r>
              <a:rPr lang="en-US" sz="1100" b="1" dirty="0">
                <a:solidFill>
                  <a:schemeClr val="bg1"/>
                </a:solidFill>
              </a:rPr>
              <a:t>Wazuh</a:t>
            </a:r>
            <a:r>
              <a:rPr lang="en-US" sz="1100" dirty="0">
                <a:solidFill>
                  <a:schemeClr val="bg1"/>
                </a:solidFill>
              </a:rPr>
              <a:t> SIEM for comprehensive  treat detection and analysis</a:t>
            </a:r>
          </a:p>
          <a:p>
            <a:pPr marL="285750" indent="-285750"/>
            <a:r>
              <a:rPr lang="en-US" sz="1100" b="1" dirty="0">
                <a:solidFill>
                  <a:schemeClr val="bg1"/>
                </a:solidFill>
              </a:rPr>
              <a:t>Grafana</a:t>
            </a:r>
            <a:r>
              <a:rPr lang="en-US" sz="1100" dirty="0">
                <a:solidFill>
                  <a:schemeClr val="bg1"/>
                </a:solidFill>
              </a:rPr>
              <a:t> for real-time dashboard visualization and monitoring</a:t>
            </a:r>
          </a:p>
          <a:p>
            <a:pPr marL="285750" indent="-285750"/>
            <a:r>
              <a:rPr lang="en-US" b="1" i="0" u="none" strike="noStrike" dirty="0">
                <a:solidFill>
                  <a:srgbClr val="000000"/>
                </a:solidFill>
                <a:effectLst/>
              </a:rPr>
              <a:t>Discord</a:t>
            </a:r>
            <a:r>
              <a:rPr lang="en-US" sz="1100" b="0" i="0" u="none" strike="noStrike" cap="none" dirty="0">
                <a:solidFill>
                  <a:srgbClr val="000000"/>
                </a:solidFill>
                <a:effectLst/>
                <a:latin typeface="Arial"/>
                <a:ea typeface="Arial"/>
                <a:cs typeface="Arial"/>
                <a:sym typeface="Arial"/>
              </a:rPr>
              <a:t> is used to send </a:t>
            </a:r>
            <a:r>
              <a:rPr lang="en-US" b="1" i="0" u="none" strike="noStrike" dirty="0">
                <a:solidFill>
                  <a:srgbClr val="000000"/>
                </a:solidFill>
                <a:effectLst/>
              </a:rPr>
              <a:t>automated notifications and incident alerts</a:t>
            </a:r>
            <a:r>
              <a:rPr lang="en-US" sz="1100" b="0" i="0" u="none" strike="noStrike" cap="none" dirty="0">
                <a:solidFill>
                  <a:srgbClr val="000000"/>
                </a:solidFill>
                <a:effectLst/>
                <a:latin typeface="Arial"/>
                <a:ea typeface="Arial"/>
                <a:cs typeface="Arial"/>
                <a:sym typeface="Arial"/>
              </a:rPr>
              <a:t> to the team.</a:t>
            </a:r>
            <a:endParaRPr lang="en-US" sz="1100" dirty="0">
              <a:solidFill>
                <a:schemeClr val="bg1"/>
              </a:solidFill>
            </a:endParaRP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a:extLst>
            <a:ext uri="{FF2B5EF4-FFF2-40B4-BE49-F238E27FC236}">
              <a16:creationId xmlns:a16="http://schemas.microsoft.com/office/drawing/2014/main" id="{83F624C5-32DC-C8A6-588B-84726F6586E9}"/>
            </a:ext>
          </a:extLst>
        </p:cNvPr>
        <p:cNvGrpSpPr/>
        <p:nvPr/>
      </p:nvGrpSpPr>
      <p:grpSpPr>
        <a:xfrm>
          <a:off x="0" y="0"/>
          <a:ext cx="0" cy="0"/>
          <a:chOff x="0" y="0"/>
          <a:chExt cx="0" cy="0"/>
        </a:xfrm>
      </p:grpSpPr>
      <p:sp>
        <p:nvSpPr>
          <p:cNvPr id="439" name="Google Shape;439;gbc98855ff3_0_47:notes">
            <a:extLst>
              <a:ext uri="{FF2B5EF4-FFF2-40B4-BE49-F238E27FC236}">
                <a16:creationId xmlns:a16="http://schemas.microsoft.com/office/drawing/2014/main" id="{99E6C202-111F-C262-156F-7892BFB0C9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0" name="Google Shape;440;gbc98855ff3_0_47:notes">
            <a:extLst>
              <a:ext uri="{FF2B5EF4-FFF2-40B4-BE49-F238E27FC236}">
                <a16:creationId xmlns:a16="http://schemas.microsoft.com/office/drawing/2014/main" id="{7AE330C7-2BC9-F8EE-39F5-0032517FD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82600" indent="-342900">
              <a:buFont typeface="+mj-lt"/>
              <a:buAutoNum type="arabicPeriod"/>
            </a:pPr>
            <a:r>
              <a:rPr lang="en-US" sz="1800" b="1" dirty="0"/>
              <a:t>Network Design</a:t>
            </a:r>
            <a:r>
              <a:rPr lang="en-US" sz="1800" dirty="0"/>
              <a:t> – Planned a micro-segmented network to protect critical systems.</a:t>
            </a:r>
          </a:p>
          <a:p>
            <a:pPr marL="482600" indent="-342900">
              <a:buFont typeface="+mj-lt"/>
              <a:buAutoNum type="arabicPeriod"/>
            </a:pPr>
            <a:endParaRPr lang="en-US" sz="1800" dirty="0"/>
          </a:p>
          <a:p>
            <a:pPr marL="482600" indent="-342900">
              <a:buFont typeface="+mj-lt"/>
              <a:buAutoNum type="arabicPeriod"/>
            </a:pPr>
            <a:r>
              <a:rPr lang="en-US" sz="1800" b="1" dirty="0"/>
              <a:t>Deploy Virtual Machines - </a:t>
            </a:r>
            <a:r>
              <a:rPr lang="en-US" sz="1800" dirty="0"/>
              <a:t>Set up virtual machines for different security roles.</a:t>
            </a:r>
          </a:p>
          <a:p>
            <a:pPr marL="482600" indent="-342900">
              <a:buFont typeface="+mj-lt"/>
              <a:buAutoNum type="arabicPeriod"/>
            </a:pPr>
            <a:endParaRPr lang="en-US" sz="1800" dirty="0"/>
          </a:p>
          <a:p>
            <a:pPr marL="482600" indent="-342900">
              <a:buFont typeface="+mj-lt"/>
              <a:buAutoNum type="arabicPeriod"/>
            </a:pPr>
            <a:r>
              <a:rPr lang="en-US" sz="1800" b="1" dirty="0"/>
              <a:t>Security Agents</a:t>
            </a:r>
            <a:r>
              <a:rPr lang="en-US" sz="1800" dirty="0"/>
              <a:t> – Configured Parrot OS agents for monitoring endpoints.</a:t>
            </a:r>
          </a:p>
          <a:p>
            <a:pPr marL="482600" indent="-342900">
              <a:buFont typeface="+mj-lt"/>
              <a:buAutoNum type="arabicPeriod"/>
            </a:pPr>
            <a:endParaRPr lang="en-US" sz="1800" dirty="0"/>
          </a:p>
          <a:p>
            <a:pPr marL="482600" indent="-342900">
              <a:buFont typeface="+mj-lt"/>
              <a:buAutoNum type="arabicPeriod"/>
            </a:pPr>
            <a:r>
              <a:rPr lang="en-US" sz="1800" b="1" dirty="0"/>
              <a:t>Attack Simulation</a:t>
            </a:r>
            <a:r>
              <a:rPr lang="en-US" sz="1800" dirty="0"/>
              <a:t> – Used Kali Linux to test and validate security controls.</a:t>
            </a:r>
          </a:p>
          <a:p>
            <a:pPr marL="482600" indent="-342900">
              <a:buFont typeface="+mj-lt"/>
              <a:buAutoNum type="arabicPeriod"/>
            </a:pPr>
            <a:endParaRPr lang="en-US" sz="1800" dirty="0"/>
          </a:p>
          <a:p>
            <a:pPr marL="482600" indent="-342900">
              <a:buFont typeface="+mj-lt"/>
              <a:buAutoNum type="arabicPeriod"/>
            </a:pPr>
            <a:r>
              <a:rPr lang="en-US" sz="1800" b="1" dirty="0" err="1"/>
              <a:t>Wazuh</a:t>
            </a:r>
            <a:r>
              <a:rPr lang="en-US" sz="1800" b="1" dirty="0"/>
              <a:t> Alerts</a:t>
            </a:r>
            <a:r>
              <a:rPr lang="en-US" sz="1800" dirty="0"/>
              <a:t> – Tuned </a:t>
            </a:r>
            <a:r>
              <a:rPr lang="en-US" sz="1800" dirty="0" err="1"/>
              <a:t>Wazuh</a:t>
            </a:r>
            <a:r>
              <a:rPr lang="en-US" sz="1800" dirty="0"/>
              <a:t> SIEM to detect threats in real time.</a:t>
            </a:r>
          </a:p>
          <a:p>
            <a:pPr marL="482600" indent="-342900">
              <a:buFont typeface="+mj-lt"/>
              <a:buAutoNum type="arabicPeriod"/>
            </a:pPr>
            <a:endParaRPr lang="en-US" sz="1800" dirty="0"/>
          </a:p>
          <a:p>
            <a:pPr marL="482600" indent="-342900">
              <a:buFont typeface="+mj-lt"/>
              <a:buAutoNum type="arabicPeriod"/>
            </a:pPr>
            <a:r>
              <a:rPr lang="en-US" sz="1800" b="1" dirty="0"/>
              <a:t>Grafana Dashboards</a:t>
            </a:r>
            <a:r>
              <a:rPr lang="en-US" sz="1800" dirty="0"/>
              <a:t> – Built dashboards to visualize metrics, incidents, and system health.</a:t>
            </a:r>
          </a:p>
        </p:txBody>
      </p:sp>
    </p:spTree>
    <p:extLst>
      <p:ext uri="{BB962C8B-B14F-4D97-AF65-F5344CB8AC3E}">
        <p14:creationId xmlns:p14="http://schemas.microsoft.com/office/powerpoint/2010/main" val="3927070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ABF1E2AF-1C45-201F-193C-E41E8EE2C896}"/>
            </a:ext>
          </a:extLst>
        </p:cNvPr>
        <p:cNvGrpSpPr/>
        <p:nvPr/>
      </p:nvGrpSpPr>
      <p:grpSpPr>
        <a:xfrm>
          <a:off x="0" y="0"/>
          <a:ext cx="0" cy="0"/>
          <a:chOff x="0" y="0"/>
          <a:chExt cx="0" cy="0"/>
        </a:xfrm>
      </p:grpSpPr>
      <p:sp>
        <p:nvSpPr>
          <p:cNvPr id="100" name="Google Shape;100;p:notes">
            <a:extLst>
              <a:ext uri="{FF2B5EF4-FFF2-40B4-BE49-F238E27FC236}">
                <a16:creationId xmlns:a16="http://schemas.microsoft.com/office/drawing/2014/main" id="{5FCD73CE-8A2E-83F9-BF6E-B070FBC4B3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1" name="Google Shape;101;p:notes">
            <a:extLst>
              <a:ext uri="{FF2B5EF4-FFF2-40B4-BE49-F238E27FC236}">
                <a16:creationId xmlns:a16="http://schemas.microsoft.com/office/drawing/2014/main" id="{4306AF40-247B-6EBF-6667-A30872B82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i="0" u="none" strike="noStrike" dirty="0">
                <a:solidFill>
                  <a:srgbClr val="000000"/>
                </a:solidFill>
                <a:effectLst/>
              </a:rPr>
              <a:t>Parrot OS Agents</a:t>
            </a:r>
            <a:r>
              <a:rPr lang="en-US" b="0" i="0" u="none" strike="noStrike" dirty="0">
                <a:solidFill>
                  <a:srgbClr val="000000"/>
                </a:solidFill>
                <a:effectLst/>
              </a:rPr>
              <a:t> → These are the machines generating logs (syslog and auth).</a:t>
            </a:r>
          </a:p>
          <a:p>
            <a:r>
              <a:rPr lang="en-US" b="1" i="0" u="none" strike="noStrike" dirty="0">
                <a:solidFill>
                  <a:srgbClr val="000000"/>
                </a:solidFill>
                <a:effectLst/>
              </a:rPr>
              <a:t>Kali Linux</a:t>
            </a:r>
            <a:r>
              <a:rPr lang="en-US" b="0" i="0" u="none" strike="noStrike" dirty="0">
                <a:solidFill>
                  <a:srgbClr val="000000"/>
                </a:solidFill>
                <a:effectLst/>
              </a:rPr>
              <a:t> → Represents the attacker launching SSH brute force or DoS attacks.</a:t>
            </a:r>
          </a:p>
          <a:p>
            <a:r>
              <a:rPr lang="en-US" b="1" i="0" u="none" strike="noStrike" dirty="0">
                <a:solidFill>
                  <a:srgbClr val="000000"/>
                </a:solidFill>
                <a:effectLst/>
              </a:rPr>
              <a:t>Docker on macOS</a:t>
            </a:r>
            <a:r>
              <a:rPr lang="en-US" b="0" i="0" u="none" strike="noStrike" dirty="0">
                <a:solidFill>
                  <a:srgbClr val="000000"/>
                </a:solidFill>
                <a:effectLst/>
              </a:rPr>
              <a:t> → Runs the main Wazuh services:</a:t>
            </a:r>
          </a:p>
          <a:p>
            <a:pPr lvl="1"/>
            <a:r>
              <a:rPr lang="en-US" b="1" i="0" u="none" strike="noStrike" dirty="0">
                <a:solidFill>
                  <a:srgbClr val="000000"/>
                </a:solidFill>
                <a:effectLst/>
              </a:rPr>
              <a:t>Wazuh Manager</a:t>
            </a:r>
            <a:r>
              <a:rPr lang="en-US" b="0" i="0" u="none" strike="noStrike" dirty="0">
                <a:solidFill>
                  <a:srgbClr val="000000"/>
                </a:solidFill>
                <a:effectLst/>
              </a:rPr>
              <a:t> receives logs from the VMs.</a:t>
            </a:r>
          </a:p>
          <a:p>
            <a:pPr lvl="1"/>
            <a:r>
              <a:rPr lang="en-US" b="1" i="0" u="none" strike="noStrike" dirty="0">
                <a:solidFill>
                  <a:srgbClr val="000000"/>
                </a:solidFill>
                <a:effectLst/>
              </a:rPr>
              <a:t>Elasticsearch</a:t>
            </a:r>
            <a:r>
              <a:rPr lang="en-US" b="0" i="0" u="none" strike="noStrike" dirty="0">
                <a:solidFill>
                  <a:srgbClr val="000000"/>
                </a:solidFill>
                <a:effectLst/>
              </a:rPr>
              <a:t> stores and allows querying of events.</a:t>
            </a:r>
          </a:p>
          <a:p>
            <a:pPr lvl="1"/>
            <a:r>
              <a:rPr lang="en-US" b="1" i="0" u="none" strike="noStrike" dirty="0">
                <a:solidFill>
                  <a:srgbClr val="000000"/>
                </a:solidFill>
                <a:effectLst/>
              </a:rPr>
              <a:t>Wazuh Dashboard</a:t>
            </a:r>
            <a:r>
              <a:rPr lang="en-US" b="0" i="0" u="none" strike="noStrike" dirty="0">
                <a:solidFill>
                  <a:srgbClr val="000000"/>
                </a:solidFill>
                <a:effectLst/>
              </a:rPr>
              <a:t> provides a graphical interface to view alerts.</a:t>
            </a:r>
          </a:p>
          <a:p>
            <a:pPr lvl="1"/>
            <a:r>
              <a:rPr lang="en-US" b="1" i="0" u="none" strike="noStrike" dirty="0">
                <a:solidFill>
                  <a:srgbClr val="000000"/>
                </a:solidFill>
                <a:effectLst/>
              </a:rPr>
              <a:t>RabbitMQ and </a:t>
            </a:r>
            <a:r>
              <a:rPr lang="en-US" b="1" i="0" u="none" strike="noStrike" dirty="0" err="1">
                <a:solidFill>
                  <a:srgbClr val="000000"/>
                </a:solidFill>
                <a:effectLst/>
              </a:rPr>
              <a:t>MinIO</a:t>
            </a:r>
            <a:r>
              <a:rPr lang="en-US" b="0" i="0" u="none" strike="noStrike" dirty="0">
                <a:solidFill>
                  <a:srgbClr val="000000"/>
                </a:solidFill>
                <a:effectLst/>
              </a:rPr>
              <a:t> are support components for Wazuh.</a:t>
            </a:r>
          </a:p>
          <a:p>
            <a:r>
              <a:rPr lang="en-US" b="1" i="0" u="none" strike="noStrike" dirty="0">
                <a:solidFill>
                  <a:srgbClr val="000000"/>
                </a:solidFill>
                <a:effectLst/>
              </a:rPr>
              <a:t>Grafana</a:t>
            </a:r>
            <a:r>
              <a:rPr lang="en-US" b="0" i="0" u="none" strike="noStrike" dirty="0">
                <a:solidFill>
                  <a:srgbClr val="000000"/>
                </a:solidFill>
                <a:effectLst/>
              </a:rPr>
              <a:t> → Connects to Elasticsearch to display real-time dashboards and metrics.</a:t>
            </a:r>
          </a:p>
          <a:p>
            <a:r>
              <a:rPr lang="en-US" b="1" i="0" u="none" strike="noStrike" dirty="0">
                <a:solidFill>
                  <a:srgbClr val="000000"/>
                </a:solidFill>
                <a:effectLst/>
              </a:rPr>
              <a:t>Discord Webhook</a:t>
            </a:r>
            <a:r>
              <a:rPr lang="en-US" b="0" i="0" u="none" strike="noStrike" dirty="0">
                <a:solidFill>
                  <a:srgbClr val="000000"/>
                </a:solidFill>
                <a:effectLst/>
              </a:rPr>
              <a:t> → Sends automated notifications when critical alerts occur.</a:t>
            </a:r>
          </a:p>
          <a:p>
            <a:endParaRPr lang="en-US" b="0" i="0" u="none" strike="noStrike" dirty="0">
              <a:solidFill>
                <a:srgbClr val="000000"/>
              </a:solidFill>
              <a:effectLst/>
            </a:endParaRPr>
          </a:p>
          <a:p>
            <a:r>
              <a:rPr lang="en-US" b="1" i="0" u="none" strike="noStrike" dirty="0">
                <a:solidFill>
                  <a:srgbClr val="000000"/>
                </a:solidFill>
                <a:effectLst/>
              </a:rPr>
              <a:t>In short:</a:t>
            </a:r>
            <a:endParaRPr lang="en-US" b="0" i="0" u="none" strike="noStrike" dirty="0">
              <a:solidFill>
                <a:srgbClr val="000000"/>
              </a:solidFill>
              <a:effectLst/>
            </a:endParaRPr>
          </a:p>
          <a:p>
            <a:r>
              <a:rPr lang="en-US" dirty="0"/>
              <a:t>The agents send logs → Wazuh processes them → Elasticsearch stores them → Grafana and the Wazuh Dashboard display them → if critical alerts are detected, they are sent to Discord.</a:t>
            </a:r>
          </a:p>
        </p:txBody>
      </p:sp>
    </p:spTree>
    <p:extLst>
      <p:ext uri="{BB962C8B-B14F-4D97-AF65-F5344CB8AC3E}">
        <p14:creationId xmlns:p14="http://schemas.microsoft.com/office/powerpoint/2010/main" val="911311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6120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In this semester we had to pick and learn a new technology that we don’t know Anything about and implemented to out project, so coming from a design background Grafana was an easy pick for me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Why????</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i="0" u="none" strike="noStrike" dirty="0">
                <a:solidFill>
                  <a:srgbClr val="000000"/>
                </a:solidFill>
                <a:effectLst/>
              </a:rPr>
              <a:t>Grafana</a:t>
            </a:r>
            <a:r>
              <a:rPr lang="en-US" sz="1100" b="0" i="0" u="none" strike="noStrike" cap="none" dirty="0">
                <a:solidFill>
                  <a:srgbClr val="000000"/>
                </a:solidFill>
                <a:effectLst/>
                <a:latin typeface="Arial"/>
                <a:ea typeface="Arial"/>
                <a:cs typeface="Arial"/>
                <a:sym typeface="Arial"/>
              </a:rPr>
              <a:t> is a tool that turns data into </a:t>
            </a:r>
            <a:r>
              <a:rPr lang="en-US" b="1" i="0" u="none" strike="noStrike" dirty="0">
                <a:solidFill>
                  <a:srgbClr val="000000"/>
                </a:solidFill>
                <a:effectLst/>
              </a:rPr>
              <a:t>visual graphs and dashboards</a:t>
            </a:r>
            <a:r>
              <a:rPr lang="en-US" sz="1100" b="0" i="0" u="none" strike="noStrike" cap="none" dirty="0">
                <a:solidFill>
                  <a:srgbClr val="000000"/>
                </a:solidFill>
                <a:effectLst/>
                <a:latin typeface="Arial"/>
                <a:ea typeface="Arial"/>
                <a:cs typeface="Arial"/>
                <a:sym typeface="Arial"/>
              </a:rPr>
              <a:t>, making it easy to see trends, metrics, and alerts in real time.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dirty="0">
                <a:solidFill>
                  <a:srgbClr val="000000"/>
                </a:solidFill>
                <a:effectLst/>
                <a:latin typeface="Arial"/>
                <a:cs typeface="Arial"/>
                <a:sym typeface="Arial"/>
              </a:rPr>
              <a:t>---</a:t>
            </a:r>
            <a:endParaRPr lang="en-US" sz="11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Real-Time Dashboards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solidFill>
                  <a:schemeClr val="tx1"/>
                </a:solidFill>
              </a:rPr>
              <a:t>Grafana provides comprehensive real-time visualization of security metrics, threat indicators, and system performance data for immediate situational awareness.</a:t>
            </a:r>
            <a:endParaRPr lang="en-US" sz="1100" dirty="0"/>
          </a:p>
          <a:p>
            <a:pPr marL="0" lvl="0" indent="0" algn="l" rtl="0">
              <a:spcBef>
                <a:spcPts val="0"/>
              </a:spcBef>
              <a:spcAft>
                <a:spcPts val="0"/>
              </a:spcAft>
              <a:buNone/>
            </a:pPr>
            <a:endParaRPr lang="en-US" dirty="0"/>
          </a:p>
          <a:p>
            <a:pPr marL="0" indent="0">
              <a:lnSpc>
                <a:spcPct val="100000"/>
              </a:lnSpc>
              <a:buFont typeface="Muli"/>
              <a:buNone/>
            </a:pPr>
            <a:r>
              <a:rPr lang="en-US" sz="1200" b="1" dirty="0">
                <a:solidFill>
                  <a:schemeClr val="tx1"/>
                </a:solidFill>
              </a:rPr>
              <a:t>Incident Timeline Tracking</a:t>
            </a:r>
          </a:p>
          <a:p>
            <a:pPr marL="0" indent="0">
              <a:lnSpc>
                <a:spcPct val="100000"/>
              </a:lnSpc>
              <a:buFont typeface="Muli"/>
              <a:buNone/>
            </a:pPr>
            <a:r>
              <a:rPr lang="en-US" sz="1100" dirty="0">
                <a:solidFill>
                  <a:schemeClr val="tx1"/>
                </a:solidFill>
              </a:rPr>
              <a:t>Advanced timeline visualization shows the progression of security incidents, enabling better forensic analysis and incident response coordination.</a:t>
            </a:r>
          </a:p>
          <a:p>
            <a:pPr marL="0" lvl="0" indent="0" algn="l" rtl="0">
              <a:spcBef>
                <a:spcPts val="0"/>
              </a:spcBef>
              <a:spcAft>
                <a:spcPts val="0"/>
              </a:spcAft>
              <a:buNone/>
            </a:pPr>
            <a:endParaRPr lang="en-US" dirty="0"/>
          </a:p>
          <a:p>
            <a:pPr marL="0" indent="0">
              <a:lnSpc>
                <a:spcPct val="100000"/>
              </a:lnSpc>
              <a:buFont typeface="Muli"/>
              <a:buNone/>
            </a:pPr>
            <a:r>
              <a:rPr lang="en-US" sz="1200" b="1" dirty="0">
                <a:solidFill>
                  <a:schemeClr val="tx1"/>
                </a:solidFill>
              </a:rPr>
              <a:t>Agent Status Monitoring</a:t>
            </a:r>
          </a:p>
          <a:p>
            <a:pPr marL="0" indent="0">
              <a:lnSpc>
                <a:spcPct val="100000"/>
              </a:lnSpc>
              <a:buFont typeface="Muli"/>
              <a:buNone/>
            </a:pPr>
            <a:r>
              <a:rPr lang="en-US" sz="1100" dirty="0">
                <a:solidFill>
                  <a:schemeClr val="tx1"/>
                </a:solidFill>
              </a:rPr>
              <a:t>Comprehensive monitoring of all security agents across the network, ensuring continuous coverage and alerting on any communication failures.</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Setting up SSH brute force ID</a:t>
            </a:r>
          </a:p>
          <a:p>
            <a:endParaRPr lang="en-US"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err="1"/>
              <a:t>Rule,id</a:t>
            </a:r>
            <a:r>
              <a:rPr lang="en-US" dirty="0"/>
              <a:t>: 100202</a:t>
            </a:r>
          </a:p>
          <a:p>
            <a:endParaRPr lang="en-US" dirty="0"/>
          </a:p>
        </p:txBody>
      </p:sp>
    </p:spTree>
    <p:extLst>
      <p:ext uri="{BB962C8B-B14F-4D97-AF65-F5344CB8AC3E}">
        <p14:creationId xmlns:p14="http://schemas.microsoft.com/office/powerpoint/2010/main" val="3096159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SSH RULE Grafana set up</a:t>
            </a:r>
          </a:p>
          <a:p>
            <a:endParaRPr lang="en-US" dirty="0"/>
          </a:p>
          <a:p>
            <a:r>
              <a:rPr lang="en-US" dirty="0" err="1"/>
              <a:t>Rule,id</a:t>
            </a:r>
            <a:r>
              <a:rPr lang="en-US" dirty="0"/>
              <a:t>: 100202</a:t>
            </a:r>
          </a:p>
        </p:txBody>
      </p:sp>
    </p:spTree>
    <p:extLst>
      <p:ext uri="{BB962C8B-B14F-4D97-AF65-F5344CB8AC3E}">
        <p14:creationId xmlns:p14="http://schemas.microsoft.com/office/powerpoint/2010/main" val="3425571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Discord alerts successfully trigger </a:t>
            </a:r>
          </a:p>
        </p:txBody>
      </p:sp>
    </p:spTree>
    <p:extLst>
      <p:ext uri="{BB962C8B-B14F-4D97-AF65-F5344CB8AC3E}">
        <p14:creationId xmlns:p14="http://schemas.microsoft.com/office/powerpoint/2010/main" val="2215368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 successfully built a Mini SOC that can detect threats in real time, generate automated alerts, and monitor security across the network.</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 used Wazuh SIEM to detect attacks, identify suspicious activity, and find security vulnerabilities during testing.</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integrated Grafana with Wazuh SIEM to create a unified security environment with automated data correlation and reporting.</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t>This project demonstrates how creativity in design thinking can be successfully applied to cybersecurity challenges. The Mini SOC implementation represents a strong foundational step toward building a successful SOC Analyst career, combining technical expertise with innovative problem-solving approaches to create comprehensive security solutions.</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bc98855f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0" name="Google Shape;390;gbc98855f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25"/>
            <a:ext cx="9143957" cy="5143500"/>
          </a:xfrm>
          <a:prstGeom prst="rect">
            <a:avLst/>
          </a:prstGeom>
          <a:noFill/>
          <a:ln>
            <a:noFill/>
          </a:ln>
        </p:spPr>
      </p:pic>
      <p:sp>
        <p:nvSpPr>
          <p:cNvPr id="11" name="Google Shape;11;p2"/>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lvl1pPr marL="457200" lvl="0" indent="-419100" rtl="0">
              <a:spcBef>
                <a:spcPts val="600"/>
              </a:spcBef>
              <a:spcAft>
                <a:spcPts val="0"/>
              </a:spcAft>
              <a:buSzPts val="3000"/>
              <a:buFont typeface="Lexend Deca"/>
              <a:buChar char="⬡"/>
              <a:defRPr sz="3000">
                <a:latin typeface="Lexend Deca"/>
                <a:ea typeface="Lexend Deca"/>
                <a:cs typeface="Lexend Deca"/>
                <a:sym typeface="Lexend Deca"/>
              </a:defRPr>
            </a:lvl1pPr>
            <a:lvl2pPr marL="914400" lvl="1" indent="-419100" rtl="0">
              <a:spcBef>
                <a:spcPts val="0"/>
              </a:spcBef>
              <a:spcAft>
                <a:spcPts val="0"/>
              </a:spcAft>
              <a:buSzPts val="3000"/>
              <a:buFont typeface="Lexend Deca"/>
              <a:buChar char="∙"/>
              <a:defRPr sz="3000">
                <a:latin typeface="Lexend Deca"/>
                <a:ea typeface="Lexend Deca"/>
                <a:cs typeface="Lexend Deca"/>
                <a:sym typeface="Lexend Deca"/>
              </a:defRPr>
            </a:lvl2pPr>
            <a:lvl3pPr marL="1371600" lvl="2" indent="-419100" rtl="0">
              <a:spcBef>
                <a:spcPts val="0"/>
              </a:spcBef>
              <a:spcAft>
                <a:spcPts val="0"/>
              </a:spcAft>
              <a:buSzPts val="3000"/>
              <a:buFont typeface="Lexend Deca"/>
              <a:buChar char="∙"/>
              <a:defRPr sz="3000">
                <a:latin typeface="Lexend Deca"/>
                <a:ea typeface="Lexend Deca"/>
                <a:cs typeface="Lexend Deca"/>
                <a:sym typeface="Lexend Deca"/>
              </a:defRPr>
            </a:lvl3pPr>
            <a:lvl4pPr marL="1828800" lvl="3" indent="-419100" rtl="0">
              <a:spcBef>
                <a:spcPts val="0"/>
              </a:spcBef>
              <a:spcAft>
                <a:spcPts val="0"/>
              </a:spcAft>
              <a:buSzPts val="3000"/>
              <a:buFont typeface="Lexend Deca"/>
              <a:buChar char="●"/>
              <a:defRPr sz="3000">
                <a:latin typeface="Lexend Deca"/>
                <a:ea typeface="Lexend Deca"/>
                <a:cs typeface="Lexend Deca"/>
                <a:sym typeface="Lexend Deca"/>
              </a:defRPr>
            </a:lvl4pPr>
            <a:lvl5pPr marL="2286000" lvl="4" indent="-419100" rtl="0">
              <a:spcBef>
                <a:spcPts val="0"/>
              </a:spcBef>
              <a:spcAft>
                <a:spcPts val="0"/>
              </a:spcAft>
              <a:buSzPts val="3000"/>
              <a:buFont typeface="Lexend Deca"/>
              <a:buChar char="○"/>
              <a:defRPr sz="3000">
                <a:latin typeface="Lexend Deca"/>
                <a:ea typeface="Lexend Deca"/>
                <a:cs typeface="Lexend Deca"/>
                <a:sym typeface="Lexend Deca"/>
              </a:defRPr>
            </a:lvl5pPr>
            <a:lvl6pPr marL="2743200" lvl="5" indent="-419100" rtl="0">
              <a:spcBef>
                <a:spcPts val="0"/>
              </a:spcBef>
              <a:spcAft>
                <a:spcPts val="0"/>
              </a:spcAft>
              <a:buSzPts val="3000"/>
              <a:buFont typeface="Lexend Deca"/>
              <a:buChar char="■"/>
              <a:defRPr sz="3000">
                <a:latin typeface="Lexend Deca"/>
                <a:ea typeface="Lexend Deca"/>
                <a:cs typeface="Lexend Deca"/>
                <a:sym typeface="Lexend Deca"/>
              </a:defRPr>
            </a:lvl6pPr>
            <a:lvl7pPr marL="3200400" lvl="6" indent="-419100" rtl="0">
              <a:spcBef>
                <a:spcPts val="0"/>
              </a:spcBef>
              <a:spcAft>
                <a:spcPts val="0"/>
              </a:spcAft>
              <a:buSzPts val="3000"/>
              <a:buFont typeface="Lexend Deca"/>
              <a:buChar char="●"/>
              <a:defRPr sz="3000">
                <a:latin typeface="Lexend Deca"/>
                <a:ea typeface="Lexend Deca"/>
                <a:cs typeface="Lexend Deca"/>
                <a:sym typeface="Lexend Deca"/>
              </a:defRPr>
            </a:lvl7pPr>
            <a:lvl8pPr marL="3657600" lvl="7" indent="-419100" rtl="0">
              <a:spcBef>
                <a:spcPts val="0"/>
              </a:spcBef>
              <a:spcAft>
                <a:spcPts val="0"/>
              </a:spcAft>
              <a:buSzPts val="3000"/>
              <a:buFont typeface="Lexend Deca"/>
              <a:buChar char="○"/>
              <a:defRPr sz="3000">
                <a:latin typeface="Lexend Deca"/>
                <a:ea typeface="Lexend Deca"/>
                <a:cs typeface="Lexend Deca"/>
                <a:sym typeface="Lexend Deca"/>
              </a:defRPr>
            </a:lvl8pPr>
            <a:lvl9pPr marL="4114800" lvl="8" indent="-419100">
              <a:spcBef>
                <a:spcPts val="0"/>
              </a:spcBef>
              <a:spcAft>
                <a:spcPts val="0"/>
              </a:spcAft>
              <a:buSzPts val="3000"/>
              <a:buFont typeface="Lexend Deca"/>
              <a:buChar char="■"/>
              <a:defRPr sz="3000">
                <a:latin typeface="Lexend Deca"/>
                <a:ea typeface="Lexend Deca"/>
                <a:cs typeface="Lexend Deca"/>
                <a:sym typeface="Lexend Deca"/>
              </a:defRPr>
            </a:lvl9pPr>
          </a:lstStyle>
          <a:p>
            <a:endParaRPr/>
          </a:p>
        </p:txBody>
      </p:sp>
      <p:sp>
        <p:nvSpPr>
          <p:cNvPr id="20" name="Google Shape;20;p4"/>
          <p:cNvSpPr txBox="1"/>
          <p:nvPr/>
        </p:nvSpPr>
        <p:spPr>
          <a:xfrm>
            <a:off x="826414" y="656117"/>
            <a:ext cx="6138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21" name="Google Shape;21;p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580550" y="1352550"/>
            <a:ext cx="6014400" cy="31617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6" name="Google Shape;26;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body" idx="1"/>
          </p:nvPr>
        </p:nvSpPr>
        <p:spPr>
          <a:xfrm>
            <a:off x="580550"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1" name="Google Shape;31;p6"/>
          <p:cNvSpPr txBox="1">
            <a:spLocks noGrp="1"/>
          </p:cNvSpPr>
          <p:nvPr>
            <p:ph type="body" idx="2"/>
          </p:nvPr>
        </p:nvSpPr>
        <p:spPr>
          <a:xfrm>
            <a:off x="3753943"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2" name="Google Shape;32;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6" name="Google Shape;36;p7"/>
          <p:cNvSpPr txBox="1">
            <a:spLocks noGrp="1"/>
          </p:cNvSpPr>
          <p:nvPr>
            <p:ph type="body" idx="1"/>
          </p:nvPr>
        </p:nvSpPr>
        <p:spPr>
          <a:xfrm>
            <a:off x="580550"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7" name="Google Shape;37;p7"/>
          <p:cNvSpPr txBox="1">
            <a:spLocks noGrp="1"/>
          </p:cNvSpPr>
          <p:nvPr>
            <p:ph type="body" idx="2"/>
          </p:nvPr>
        </p:nvSpPr>
        <p:spPr>
          <a:xfrm>
            <a:off x="2780447"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8" name="Google Shape;38;p7"/>
          <p:cNvSpPr txBox="1">
            <a:spLocks noGrp="1"/>
          </p:cNvSpPr>
          <p:nvPr>
            <p:ph type="body" idx="3"/>
          </p:nvPr>
        </p:nvSpPr>
        <p:spPr>
          <a:xfrm>
            <a:off x="4980344"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9" name="Google Shape;39;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3" name="Google Shape;43;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Big circuit">
  <p:cSld name="BLANK_1">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BLANK_1_1">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a:p>
        </p:txBody>
      </p:sp>
      <p:sp>
        <p:nvSpPr>
          <p:cNvPr id="7" name="Google Shape;7;p1"/>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marL="914400" lvl="1"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marL="1371600" lvl="2"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marL="1828800" lvl="3"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marL="2286000" lvl="4"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marL="2743200" lvl="5"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marL="3200400" lvl="6"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marL="3657600" lvl="7"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marL="4114800" lvl="8"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7" r:id="rId8"/>
    <p:sldLayoutId id="2147483658" r:id="rId9"/>
  </p:sldLayoutIdLst>
  <p:transition spd="slow">
    <p:push dir="u"/>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STATUS_UPD</a:t>
            </a:r>
            <a:br>
              <a:rPr lang="en" dirty="0"/>
            </a:br>
            <a:r>
              <a:rPr lang="en" dirty="0"/>
              <a:t>9-25-25</a:t>
            </a:r>
            <a:endParaRPr dirty="0"/>
          </a:p>
        </p:txBody>
      </p:sp>
      <p:pic>
        <p:nvPicPr>
          <p:cNvPr id="61" name="Google Shape;61;p13"/>
          <p:cNvPicPr preferRelativeResize="0"/>
          <p:nvPr/>
        </p:nvPicPr>
        <p:blipFill>
          <a:blip r:embed="rId3">
            <a:alphaModFix/>
          </a:blip>
          <a:stretch>
            <a:fillRect/>
          </a:stretch>
        </p:blipFill>
        <p:spPr>
          <a:xfrm>
            <a:off x="5894475" y="1050906"/>
            <a:ext cx="1782850" cy="2031750"/>
          </a:xfrm>
          <a:prstGeom prst="rect">
            <a:avLst/>
          </a:prstGeom>
          <a:noFill/>
          <a:ln>
            <a:noFill/>
          </a:ln>
        </p:spPr>
      </p:pic>
      <p:pic>
        <p:nvPicPr>
          <p:cNvPr id="62" name="Google Shape;62;p13"/>
          <p:cNvPicPr preferRelativeResize="0"/>
          <p:nvPr/>
        </p:nvPicPr>
        <p:blipFill>
          <a:blip r:embed="rId4">
            <a:alphaModFix/>
          </a:blip>
          <a:stretch>
            <a:fillRect/>
          </a:stretch>
        </p:blipFill>
        <p:spPr>
          <a:xfrm>
            <a:off x="5320814" y="378324"/>
            <a:ext cx="662500" cy="726550"/>
          </a:xfrm>
          <a:prstGeom prst="rect">
            <a:avLst/>
          </a:prstGeom>
          <a:noFill/>
          <a:ln>
            <a:noFill/>
          </a:ln>
        </p:spPr>
      </p:pic>
      <p:pic>
        <p:nvPicPr>
          <p:cNvPr id="63" name="Google Shape;63;p13"/>
          <p:cNvPicPr preferRelativeResize="0"/>
          <p:nvPr/>
        </p:nvPicPr>
        <p:blipFill>
          <a:blip r:embed="rId5">
            <a:alphaModFix/>
          </a:blip>
          <a:stretch>
            <a:fillRect/>
          </a:stretch>
        </p:blipFill>
        <p:spPr>
          <a:xfrm>
            <a:off x="7593770" y="884611"/>
            <a:ext cx="482075" cy="525200"/>
          </a:xfrm>
          <a:prstGeom prst="rect">
            <a:avLst/>
          </a:prstGeom>
          <a:noFill/>
          <a:ln>
            <a:noFill/>
          </a:ln>
        </p:spPr>
      </p:pic>
      <p:pic>
        <p:nvPicPr>
          <p:cNvPr id="64" name="Google Shape;64;p13"/>
          <p:cNvPicPr preferRelativeResize="0"/>
          <p:nvPr/>
        </p:nvPicPr>
        <p:blipFill>
          <a:blip r:embed="rId6">
            <a:alphaModFix/>
          </a:blip>
          <a:stretch>
            <a:fillRect/>
          </a:stretch>
        </p:blipFill>
        <p:spPr>
          <a:xfrm>
            <a:off x="5621692" y="4034576"/>
            <a:ext cx="586165" cy="686300"/>
          </a:xfrm>
          <a:prstGeom prst="rect">
            <a:avLst/>
          </a:prstGeom>
          <a:noFill/>
          <a:ln>
            <a:noFill/>
          </a:ln>
        </p:spPr>
      </p:pic>
      <p:pic>
        <p:nvPicPr>
          <p:cNvPr id="65" name="Google Shape;65;p13"/>
          <p:cNvPicPr preferRelativeResize="0"/>
          <p:nvPr/>
        </p:nvPicPr>
        <p:blipFill>
          <a:blip r:embed="rId7">
            <a:alphaModFix/>
          </a:blip>
          <a:stretch>
            <a:fillRect/>
          </a:stretch>
        </p:blipFill>
        <p:spPr>
          <a:xfrm>
            <a:off x="8404399" y="3624439"/>
            <a:ext cx="321850" cy="448425"/>
          </a:xfrm>
          <a:prstGeom prst="rect">
            <a:avLst/>
          </a:prstGeom>
          <a:noFill/>
          <a:ln>
            <a:noFill/>
          </a:ln>
        </p:spPr>
      </p:pic>
      <p:pic>
        <p:nvPicPr>
          <p:cNvPr id="66" name="Google Shape;66;p13"/>
          <p:cNvPicPr preferRelativeResize="0"/>
          <p:nvPr/>
        </p:nvPicPr>
        <p:blipFill>
          <a:blip r:embed="rId7">
            <a:alphaModFix/>
          </a:blip>
          <a:stretch>
            <a:fillRect/>
          </a:stretch>
        </p:blipFill>
        <p:spPr>
          <a:xfrm>
            <a:off x="8664593" y="3757882"/>
            <a:ext cx="321850" cy="44842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ctrTitle" idx="4294967295"/>
          </p:nvPr>
        </p:nvSpPr>
        <p:spPr>
          <a:xfrm>
            <a:off x="685800" y="1341750"/>
            <a:ext cx="3617400" cy="92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7200"/>
              <a:t>Hello!</a:t>
            </a:r>
            <a:endParaRPr sz="7200"/>
          </a:p>
        </p:txBody>
      </p:sp>
      <p:sp>
        <p:nvSpPr>
          <p:cNvPr id="81" name="Google Shape;81;p15"/>
          <p:cNvSpPr txBox="1">
            <a:spLocks noGrp="1"/>
          </p:cNvSpPr>
          <p:nvPr>
            <p:ph type="subTitle" idx="4294967295"/>
          </p:nvPr>
        </p:nvSpPr>
        <p:spPr>
          <a:xfrm>
            <a:off x="685800" y="2302047"/>
            <a:ext cx="3617400" cy="14997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1800" b="1" dirty="0">
                <a:latin typeface="Muli"/>
                <a:ea typeface="Muli"/>
                <a:cs typeface="Muli"/>
                <a:sym typeface="Muli"/>
              </a:rPr>
              <a:t>I am Javier Napoles</a:t>
            </a:r>
            <a:endParaRPr sz="1800" b="1" dirty="0">
              <a:latin typeface="Muli"/>
              <a:ea typeface="Muli"/>
              <a:cs typeface="Muli"/>
              <a:sym typeface="Muli"/>
            </a:endParaRPr>
          </a:p>
          <a:p>
            <a:pPr marL="0" lvl="0" indent="0" algn="l" rtl="0">
              <a:spcBef>
                <a:spcPts val="600"/>
              </a:spcBef>
              <a:spcAft>
                <a:spcPts val="0"/>
              </a:spcAft>
              <a:buClr>
                <a:schemeClr val="dk1"/>
              </a:buClr>
              <a:buSzPts val="1100"/>
              <a:buFont typeface="Arial"/>
              <a:buNone/>
            </a:pPr>
            <a:r>
              <a:rPr lang="en-US" sz="1800" dirty="0"/>
              <a:t>Aspiring SOC Analyst </a:t>
            </a:r>
          </a:p>
          <a:p>
            <a:pPr marL="0" lvl="0" indent="0" algn="l" rtl="0">
              <a:spcBef>
                <a:spcPts val="600"/>
              </a:spcBef>
              <a:spcAft>
                <a:spcPts val="0"/>
              </a:spcAft>
              <a:buClr>
                <a:schemeClr val="dk1"/>
              </a:buClr>
              <a:buSzPts val="1100"/>
              <a:buFont typeface="Arial"/>
              <a:buNone/>
            </a:pPr>
            <a:r>
              <a:rPr lang="en-US" sz="1800" dirty="0"/>
              <a:t>You can find me at @</a:t>
            </a:r>
            <a:r>
              <a:rPr lang="en-US" sz="1800" dirty="0" err="1"/>
              <a:t>Jnapfx</a:t>
            </a:r>
            <a:endParaRPr lang="en-US" sz="1800" b="1" dirty="0"/>
          </a:p>
        </p:txBody>
      </p:sp>
      <p:pic>
        <p:nvPicPr>
          <p:cNvPr id="82" name="Google Shape;82;p15"/>
          <p:cNvPicPr preferRelativeResize="0"/>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2422"/>
                    </a14:imgEffect>
                    <a14:imgEffect>
                      <a14:saturation sat="12000"/>
                    </a14:imgEffect>
                  </a14:imgLayer>
                </a14:imgProps>
              </a:ext>
            </a:extLst>
          </a:blip>
          <a:srcRect l="6243" r="6243"/>
          <a:stretch/>
        </p:blipFill>
        <p:spPr>
          <a:xfrm>
            <a:off x="4803775" y="1040850"/>
            <a:ext cx="3676800" cy="3061800"/>
          </a:xfrm>
          <a:prstGeom prst="hexagon">
            <a:avLst>
              <a:gd name="adj" fmla="val 25000"/>
              <a:gd name="vf" fmla="val 115470"/>
            </a:avLst>
          </a:prstGeom>
          <a:noFill/>
          <a:ln>
            <a:noFill/>
          </a:ln>
          <a:effectLst>
            <a:outerShdw blurRad="257175" dist="57150" dir="5400000" algn="bl" rotWithShape="0">
              <a:schemeClr val="dk1">
                <a:alpha val="50000"/>
              </a:schemeClr>
            </a:outerShdw>
          </a:effectLst>
        </p:spPr>
      </p:pic>
      <p:sp>
        <p:nvSpPr>
          <p:cNvPr id="83" name="Google Shape;83;p1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r>
              <a:rPr lang="en-US" dirty="0"/>
              <a:t>What is a SOC Analyst?</a:t>
            </a:r>
          </a:p>
        </p:txBody>
      </p:sp>
      <p:sp>
        <p:nvSpPr>
          <p:cNvPr id="72" name="Google Shape;72;p14"/>
          <p:cNvSpPr txBox="1">
            <a:spLocks noGrp="1"/>
          </p:cNvSpPr>
          <p:nvPr>
            <p:ph type="body" idx="2"/>
          </p:nvPr>
        </p:nvSpPr>
        <p:spPr>
          <a:xfrm>
            <a:off x="824390" y="3022854"/>
            <a:ext cx="4491322" cy="31551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sz="1600" b="1" dirty="0"/>
              <a:t>Incident Response &amp; Protection</a:t>
            </a:r>
          </a:p>
          <a:p>
            <a:pPr marL="0" lvl="0" indent="0" algn="l" rtl="0">
              <a:spcBef>
                <a:spcPts val="600"/>
              </a:spcBef>
              <a:spcAft>
                <a:spcPts val="0"/>
              </a:spcAft>
              <a:buNone/>
            </a:pPr>
            <a:r>
              <a:rPr lang="en-US" sz="1200" dirty="0"/>
              <a:t>They respond immediately to security incidents, containing threats, investigating breaches, and implementing recovery procedures. SOC analysts are critical for maintaining organizational security posture and preventing cyber attacks from causing significant damage.</a:t>
            </a:r>
          </a:p>
          <a:p>
            <a:pPr marL="0" lvl="0" indent="0" algn="l" rtl="0">
              <a:spcBef>
                <a:spcPts val="600"/>
              </a:spcBef>
              <a:spcAft>
                <a:spcPts val="0"/>
              </a:spcAft>
              <a:buClr>
                <a:schemeClr val="dk1"/>
              </a:buClr>
              <a:buSzPts val="1100"/>
              <a:buFont typeface="Arial"/>
              <a:buNone/>
            </a:pPr>
            <a:endParaRPr sz="1200" b="1" dirty="0"/>
          </a:p>
        </p:txBody>
      </p:sp>
      <p:sp>
        <p:nvSpPr>
          <p:cNvPr id="73" name="Google Shape;73;p14"/>
          <p:cNvSpPr txBox="1">
            <a:spLocks noGrp="1"/>
          </p:cNvSpPr>
          <p:nvPr>
            <p:ph type="body" idx="1"/>
          </p:nvPr>
        </p:nvSpPr>
        <p:spPr>
          <a:xfrm>
            <a:off x="824390" y="1315212"/>
            <a:ext cx="4491322" cy="1605788"/>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dk1"/>
              </a:buClr>
              <a:buSzPts val="1100"/>
              <a:buFont typeface="Arial"/>
              <a:buNone/>
            </a:pPr>
            <a:r>
              <a:rPr lang="en-US" sz="1600" b="1" dirty="0"/>
              <a:t>Real time Security Monitoring</a:t>
            </a:r>
          </a:p>
          <a:p>
            <a:pPr marL="0" lvl="0" indent="0" algn="l" rtl="0">
              <a:spcBef>
                <a:spcPts val="600"/>
              </a:spcBef>
              <a:spcAft>
                <a:spcPts val="0"/>
              </a:spcAft>
              <a:buClr>
                <a:schemeClr val="dk1"/>
              </a:buClr>
              <a:buSzPts val="1100"/>
              <a:buFont typeface="Arial"/>
              <a:buNone/>
            </a:pPr>
            <a:r>
              <a:rPr lang="en-US" sz="1200" dirty="0"/>
              <a:t>SOC analysts continuously monitor network traffic, security alerts, and system logs to detect potential cyber threats in real-time. They serve as the first line of defense, analyzing over 10,000 security alerts daily to identify genuine threats from false positives.</a:t>
            </a:r>
          </a:p>
        </p:txBody>
      </p:sp>
      <p:sp>
        <p:nvSpPr>
          <p:cNvPr id="75" name="Google Shape;75;p1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6FFAC2EC-8959-478F-6F76-9500B3984993}"/>
            </a:ext>
          </a:extLst>
        </p:cNvPr>
        <p:cNvGrpSpPr/>
        <p:nvPr/>
      </p:nvGrpSpPr>
      <p:grpSpPr>
        <a:xfrm>
          <a:off x="0" y="0"/>
          <a:ext cx="0" cy="0"/>
          <a:chOff x="0" y="0"/>
          <a:chExt cx="0" cy="0"/>
        </a:xfrm>
      </p:grpSpPr>
      <p:sp>
        <p:nvSpPr>
          <p:cNvPr id="71" name="Google Shape;71;p14">
            <a:extLst>
              <a:ext uri="{FF2B5EF4-FFF2-40B4-BE49-F238E27FC236}">
                <a16:creationId xmlns:a16="http://schemas.microsoft.com/office/drawing/2014/main" id="{5E1775BA-462A-CA05-50A6-5EC09C5E5E3E}"/>
              </a:ext>
            </a:extLst>
          </p:cNvPr>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r>
              <a:rPr lang="en-US" dirty="0"/>
              <a:t>Why I chose this career path</a:t>
            </a:r>
          </a:p>
        </p:txBody>
      </p:sp>
      <p:sp>
        <p:nvSpPr>
          <p:cNvPr id="72" name="Google Shape;72;p14">
            <a:extLst>
              <a:ext uri="{FF2B5EF4-FFF2-40B4-BE49-F238E27FC236}">
                <a16:creationId xmlns:a16="http://schemas.microsoft.com/office/drawing/2014/main" id="{29DB6A77-A859-F917-0602-E718E513029A}"/>
              </a:ext>
            </a:extLst>
          </p:cNvPr>
          <p:cNvSpPr txBox="1">
            <a:spLocks noGrp="1"/>
          </p:cNvSpPr>
          <p:nvPr>
            <p:ph type="body" idx="2"/>
          </p:nvPr>
        </p:nvSpPr>
        <p:spPr>
          <a:xfrm>
            <a:off x="580550" y="2738243"/>
            <a:ext cx="2780266" cy="2405257"/>
          </a:xfrm>
          <a:prstGeom prst="rect">
            <a:avLst/>
          </a:prstGeom>
        </p:spPr>
        <p:txBody>
          <a:bodyPr spcFirstLastPara="1" wrap="square" lIns="0" tIns="0" rIns="0" bIns="0" anchor="t" anchorCtr="0">
            <a:noAutofit/>
          </a:bodyPr>
          <a:lstStyle/>
          <a:p>
            <a:pPr marL="101600" indent="0">
              <a:buNone/>
            </a:pPr>
            <a:r>
              <a:rPr lang="en-US" sz="1600" b="1" dirty="0"/>
              <a:t>   Creative Problem Solving</a:t>
            </a:r>
          </a:p>
          <a:p>
            <a:pPr marL="101600" indent="0">
              <a:buNone/>
            </a:pPr>
            <a:r>
              <a:rPr lang="en-US" sz="1200" dirty="0"/>
              <a:t>Applying design thinking principles to cybersecurity challenges, developing innovative approaches to threat detection and network security architecture for comprehensive protection.</a:t>
            </a:r>
          </a:p>
          <a:p>
            <a:pPr marL="0" lvl="0" indent="0" algn="l" rtl="0">
              <a:spcBef>
                <a:spcPts val="600"/>
              </a:spcBef>
              <a:spcAft>
                <a:spcPts val="0"/>
              </a:spcAft>
              <a:buClr>
                <a:schemeClr val="dk1"/>
              </a:buClr>
              <a:buSzPts val="1100"/>
              <a:buFont typeface="Arial"/>
              <a:buNone/>
            </a:pPr>
            <a:endParaRPr sz="1200" b="1" dirty="0"/>
          </a:p>
        </p:txBody>
      </p:sp>
      <p:sp>
        <p:nvSpPr>
          <p:cNvPr id="73" name="Google Shape;73;p14">
            <a:extLst>
              <a:ext uri="{FF2B5EF4-FFF2-40B4-BE49-F238E27FC236}">
                <a16:creationId xmlns:a16="http://schemas.microsoft.com/office/drawing/2014/main" id="{A92C126B-0210-E506-D725-AE219F925E35}"/>
              </a:ext>
            </a:extLst>
          </p:cNvPr>
          <p:cNvSpPr txBox="1">
            <a:spLocks noGrp="1"/>
          </p:cNvSpPr>
          <p:nvPr>
            <p:ph type="body" idx="1"/>
          </p:nvPr>
        </p:nvSpPr>
        <p:spPr>
          <a:xfrm>
            <a:off x="580550" y="1229868"/>
            <a:ext cx="5308186" cy="1341882"/>
          </a:xfrm>
          <a:prstGeom prst="rect">
            <a:avLst/>
          </a:prstGeom>
        </p:spPr>
        <p:txBody>
          <a:bodyPr spcFirstLastPara="1" wrap="square" lIns="0" tIns="0" rIns="0" bIns="0" anchor="t" anchorCtr="0">
            <a:noAutofit/>
          </a:bodyPr>
          <a:lstStyle/>
          <a:p>
            <a:pPr marL="101600" indent="0">
              <a:buNone/>
            </a:pPr>
            <a:r>
              <a:rPr lang="en-US" sz="1600" b="1" dirty="0"/>
              <a:t>Personal Motivation &amp; Background</a:t>
            </a:r>
          </a:p>
          <a:p>
            <a:pPr marL="101600" indent="0">
              <a:buNone/>
            </a:pPr>
            <a:r>
              <a:rPr lang="en-US" sz="1200" dirty="0"/>
              <a:t>My background in graphic design has given me a unique perspective on problem-solving and creative thinking. This project combines my passion for technology with my desire to prevent cyber threats and protect organizations from digital attacks.</a:t>
            </a:r>
          </a:p>
        </p:txBody>
      </p:sp>
      <p:sp>
        <p:nvSpPr>
          <p:cNvPr id="75" name="Google Shape;75;p14">
            <a:extLst>
              <a:ext uri="{FF2B5EF4-FFF2-40B4-BE49-F238E27FC236}">
                <a16:creationId xmlns:a16="http://schemas.microsoft.com/office/drawing/2014/main" id="{54C7697E-4A21-3F9C-4465-33ECC18E6BC3}"/>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4" name="Google Shape;72;p14">
            <a:extLst>
              <a:ext uri="{FF2B5EF4-FFF2-40B4-BE49-F238E27FC236}">
                <a16:creationId xmlns:a16="http://schemas.microsoft.com/office/drawing/2014/main" id="{40AD941B-7170-B8A9-0C83-4C7325077B96}"/>
              </a:ext>
            </a:extLst>
          </p:cNvPr>
          <p:cNvSpPr txBox="1">
            <a:spLocks/>
          </p:cNvSpPr>
          <p:nvPr/>
        </p:nvSpPr>
        <p:spPr>
          <a:xfrm>
            <a:off x="3544184" y="2738243"/>
            <a:ext cx="2718060" cy="201160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15000"/>
              </a:lnSpc>
              <a:spcBef>
                <a:spcPts val="60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1pPr>
            <a:lvl2pPr marL="914400" marR="0" lvl="1" indent="-355600" algn="l" rtl="0">
              <a:lnSpc>
                <a:spcPct val="115000"/>
              </a:lnSpc>
              <a:spcBef>
                <a:spcPts val="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2pPr>
            <a:lvl3pPr marL="1371600" marR="0" lvl="2" indent="-355600" algn="l" rtl="0">
              <a:lnSpc>
                <a:spcPct val="115000"/>
              </a:lnSpc>
              <a:spcBef>
                <a:spcPts val="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3pPr>
            <a:lvl4pPr marL="1828800" marR="0" lvl="3"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4pPr>
            <a:lvl5pPr marL="2286000" marR="0" lvl="4"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5pPr>
            <a:lvl6pPr marL="2743200" marR="0" lvl="5"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6pPr>
            <a:lvl7pPr marL="3200400" marR="0" lvl="6"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7pPr>
            <a:lvl8pPr marL="3657600" marR="0" lvl="7"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8pPr>
            <a:lvl9pPr marL="4114800" marR="0" lvl="8"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9pPr>
          </a:lstStyle>
          <a:p>
            <a:pPr marL="101600" indent="0">
              <a:buNone/>
            </a:pPr>
            <a:r>
              <a:rPr lang="en-US" sz="1600" b="1" dirty="0"/>
              <a:t>     Technical Implementation</a:t>
            </a:r>
          </a:p>
          <a:p>
            <a:pPr marL="101600" indent="0">
              <a:buNone/>
            </a:pPr>
            <a:r>
              <a:rPr lang="en-US" sz="1200" dirty="0"/>
              <a:t>Combining analytical skills with hands-on technical expertise to build and deploy effective security monitoring systems and incident response procedures.</a:t>
            </a:r>
          </a:p>
          <a:p>
            <a:pPr marL="0" indent="0">
              <a:buClr>
                <a:schemeClr val="dk1"/>
              </a:buClr>
              <a:buSzPts val="1100"/>
              <a:buFont typeface="Arial"/>
              <a:buNone/>
            </a:pPr>
            <a:endParaRPr lang="en-US" sz="1200" b="1" dirty="0"/>
          </a:p>
        </p:txBody>
      </p:sp>
      <p:grpSp>
        <p:nvGrpSpPr>
          <p:cNvPr id="5" name="Google Shape;835;p49">
            <a:extLst>
              <a:ext uri="{FF2B5EF4-FFF2-40B4-BE49-F238E27FC236}">
                <a16:creationId xmlns:a16="http://schemas.microsoft.com/office/drawing/2014/main" id="{C698FE2F-E091-1934-CF71-0EBBE7981743}"/>
              </a:ext>
            </a:extLst>
          </p:cNvPr>
          <p:cNvGrpSpPr/>
          <p:nvPr/>
        </p:nvGrpSpPr>
        <p:grpSpPr>
          <a:xfrm>
            <a:off x="538311" y="2717480"/>
            <a:ext cx="215437" cy="351204"/>
            <a:chOff x="6730350" y="2315900"/>
            <a:chExt cx="257700" cy="420100"/>
          </a:xfrm>
        </p:grpSpPr>
        <p:sp>
          <p:nvSpPr>
            <p:cNvPr id="6" name="Google Shape;836;p49">
              <a:extLst>
                <a:ext uri="{FF2B5EF4-FFF2-40B4-BE49-F238E27FC236}">
                  <a16:creationId xmlns:a16="http://schemas.microsoft.com/office/drawing/2014/main" id="{FD26AFEC-2F75-669A-1C81-75BE03E57ED6}"/>
                </a:ext>
              </a:extLst>
            </p:cNvPr>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37;p49">
              <a:extLst>
                <a:ext uri="{FF2B5EF4-FFF2-40B4-BE49-F238E27FC236}">
                  <a16:creationId xmlns:a16="http://schemas.microsoft.com/office/drawing/2014/main" id="{BC88E156-2BF6-C261-4BAA-D3E0BFC32D2A}"/>
                </a:ext>
              </a:extLst>
            </p:cNvPr>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38;p49">
              <a:extLst>
                <a:ext uri="{FF2B5EF4-FFF2-40B4-BE49-F238E27FC236}">
                  <a16:creationId xmlns:a16="http://schemas.microsoft.com/office/drawing/2014/main" id="{A93B102D-23AB-05E9-F05A-84D6D54501BB}"/>
                </a:ext>
              </a:extLst>
            </p:cNvPr>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39;p49">
              <a:extLst>
                <a:ext uri="{FF2B5EF4-FFF2-40B4-BE49-F238E27FC236}">
                  <a16:creationId xmlns:a16="http://schemas.microsoft.com/office/drawing/2014/main" id="{595CE8E8-610D-10D6-F39B-75B987F68747}"/>
                </a:ext>
              </a:extLst>
            </p:cNvPr>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40;p49">
              <a:extLst>
                <a:ext uri="{FF2B5EF4-FFF2-40B4-BE49-F238E27FC236}">
                  <a16:creationId xmlns:a16="http://schemas.microsoft.com/office/drawing/2014/main" id="{AC828924-0B9E-BCDF-5183-7FE61D9CB7C8}"/>
                </a:ext>
              </a:extLst>
            </p:cNvPr>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853;p49">
            <a:extLst>
              <a:ext uri="{FF2B5EF4-FFF2-40B4-BE49-F238E27FC236}">
                <a16:creationId xmlns:a16="http://schemas.microsoft.com/office/drawing/2014/main" id="{D67594E5-0479-AD80-7602-46CEAC5D0922}"/>
              </a:ext>
            </a:extLst>
          </p:cNvPr>
          <p:cNvGrpSpPr/>
          <p:nvPr/>
        </p:nvGrpSpPr>
        <p:grpSpPr>
          <a:xfrm>
            <a:off x="3381031" y="2710926"/>
            <a:ext cx="427781" cy="316489"/>
            <a:chOff x="5255200" y="3006475"/>
            <a:chExt cx="511700" cy="378575"/>
          </a:xfrm>
        </p:grpSpPr>
        <p:sp>
          <p:nvSpPr>
            <p:cNvPr id="12" name="Google Shape;854;p49">
              <a:extLst>
                <a:ext uri="{FF2B5EF4-FFF2-40B4-BE49-F238E27FC236}">
                  <a16:creationId xmlns:a16="http://schemas.microsoft.com/office/drawing/2014/main" id="{40BD43DC-469A-94A2-9638-CDBAB5E52C21}"/>
                </a:ext>
              </a:extLst>
            </p:cNvPr>
            <p:cNvSpPr/>
            <p:nvPr/>
          </p:nvSpPr>
          <p:spPr>
            <a:xfrm>
              <a:off x="5255200" y="3006475"/>
              <a:ext cx="349900" cy="349875"/>
            </a:xfrm>
            <a:custGeom>
              <a:avLst/>
              <a:gdLst/>
              <a:ahLst/>
              <a:cxnLst/>
              <a:rect l="l" t="t" r="r" b="b"/>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55;p49">
              <a:extLst>
                <a:ext uri="{FF2B5EF4-FFF2-40B4-BE49-F238E27FC236}">
                  <a16:creationId xmlns:a16="http://schemas.microsoft.com/office/drawing/2014/main" id="{FF54F262-5057-CD6E-AB5C-33B9A5C9562F}"/>
                </a:ext>
              </a:extLst>
            </p:cNvPr>
            <p:cNvSpPr/>
            <p:nvPr/>
          </p:nvSpPr>
          <p:spPr>
            <a:xfrm>
              <a:off x="5567825" y="3185975"/>
              <a:ext cx="199075" cy="199075"/>
            </a:xfrm>
            <a:custGeom>
              <a:avLst/>
              <a:gdLst/>
              <a:ahLst/>
              <a:cxnLst/>
              <a:rect l="l" t="t" r="r" b="b"/>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9305687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533400" y="533400"/>
            <a:ext cx="3020100" cy="1380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400" b="0" dirty="0"/>
              <a:t>About my project</a:t>
            </a:r>
            <a:endParaRPr sz="2400" dirty="0"/>
          </a:p>
        </p:txBody>
      </p:sp>
      <p:sp>
        <p:nvSpPr>
          <p:cNvPr id="159" name="Google Shape;159;p23"/>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9"/>
          <p:cNvPicPr preferRelativeResize="0"/>
          <p:nvPr/>
        </p:nvPicPr>
        <p:blipFill>
          <a:blip r:embed="rId3">
            <a:alphaModFix/>
          </a:blip>
          <a:stretch>
            <a:fillRect/>
          </a:stretch>
        </p:blipFill>
        <p:spPr>
          <a:xfrm>
            <a:off x="5210416" y="2211062"/>
            <a:ext cx="2017495" cy="1209250"/>
          </a:xfrm>
          <a:prstGeom prst="rect">
            <a:avLst/>
          </a:prstGeom>
          <a:noFill/>
          <a:ln>
            <a:noFill/>
          </a:ln>
        </p:spPr>
      </p:pic>
      <p:sp>
        <p:nvSpPr>
          <p:cNvPr id="111" name="Google Shape;111;p19"/>
          <p:cNvSpPr txBox="1">
            <a:spLocks noGrp="1"/>
          </p:cNvSpPr>
          <p:nvPr>
            <p:ph type="ctrTitle" idx="4294967295"/>
          </p:nvPr>
        </p:nvSpPr>
        <p:spPr>
          <a:xfrm>
            <a:off x="532123" y="2266988"/>
            <a:ext cx="5619350" cy="1980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4400" dirty="0"/>
              <a:t>Divide &amp; Defend:</a:t>
            </a:r>
            <a:endParaRPr sz="4400" dirty="0"/>
          </a:p>
        </p:txBody>
      </p:sp>
      <p:sp>
        <p:nvSpPr>
          <p:cNvPr id="112" name="Google Shape;112;p19"/>
          <p:cNvSpPr txBox="1">
            <a:spLocks noGrp="1"/>
          </p:cNvSpPr>
          <p:nvPr>
            <p:ph type="subTitle" idx="4294967295"/>
          </p:nvPr>
        </p:nvSpPr>
        <p:spPr>
          <a:xfrm>
            <a:off x="593971" y="2950105"/>
            <a:ext cx="3332700" cy="1097400"/>
          </a:xfrm>
          <a:prstGeom prst="rect">
            <a:avLst/>
          </a:prstGeom>
        </p:spPr>
        <p:txBody>
          <a:bodyPr spcFirstLastPara="1" wrap="square" lIns="0" tIns="0" rIns="0" bIns="0" anchor="t" anchorCtr="0">
            <a:noAutofit/>
          </a:bodyPr>
          <a:lstStyle/>
          <a:p>
            <a:pPr marL="0" lvl="0" indent="0">
              <a:spcBef>
                <a:spcPts val="0"/>
              </a:spcBef>
              <a:buNone/>
            </a:pPr>
            <a:r>
              <a:rPr lang="en-US" sz="1800" dirty="0">
                <a:solidFill>
                  <a:schemeClr val="accent4"/>
                </a:solidFill>
              </a:rPr>
              <a:t>“A Hands-On SOC Lab Project with Micro-Segmentation”</a:t>
            </a:r>
          </a:p>
        </p:txBody>
      </p:sp>
      <p:sp>
        <p:nvSpPr>
          <p:cNvPr id="113" name="Google Shape;113;p1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114" name="Google Shape;114;p19"/>
          <p:cNvPicPr preferRelativeResize="0"/>
          <p:nvPr/>
        </p:nvPicPr>
        <p:blipFill>
          <a:blip r:embed="rId4">
            <a:alphaModFix/>
          </a:blip>
          <a:stretch>
            <a:fillRect/>
          </a:stretch>
        </p:blipFill>
        <p:spPr>
          <a:xfrm>
            <a:off x="4386955" y="1434470"/>
            <a:ext cx="481900" cy="555275"/>
          </a:xfrm>
          <a:prstGeom prst="rect">
            <a:avLst/>
          </a:prstGeom>
          <a:noFill/>
          <a:ln>
            <a:noFill/>
          </a:ln>
        </p:spPr>
      </p:pic>
      <p:pic>
        <p:nvPicPr>
          <p:cNvPr id="115" name="Google Shape;115;p19"/>
          <p:cNvPicPr preferRelativeResize="0"/>
          <p:nvPr/>
        </p:nvPicPr>
        <p:blipFill>
          <a:blip r:embed="rId5">
            <a:alphaModFix/>
          </a:blip>
          <a:stretch>
            <a:fillRect/>
          </a:stretch>
        </p:blipFill>
        <p:spPr>
          <a:xfrm>
            <a:off x="4569684" y="1556163"/>
            <a:ext cx="481900" cy="555275"/>
          </a:xfrm>
          <a:prstGeom prst="rect">
            <a:avLst/>
          </a:prstGeom>
          <a:noFill/>
          <a:ln>
            <a:noFill/>
          </a:ln>
        </p:spPr>
      </p:pic>
      <p:pic>
        <p:nvPicPr>
          <p:cNvPr id="116" name="Google Shape;116;p19"/>
          <p:cNvPicPr preferRelativeResize="0"/>
          <p:nvPr/>
        </p:nvPicPr>
        <p:blipFill>
          <a:blip r:embed="rId6">
            <a:alphaModFix/>
          </a:blip>
          <a:stretch>
            <a:fillRect/>
          </a:stretch>
        </p:blipFill>
        <p:spPr>
          <a:xfrm>
            <a:off x="5654025" y="2170138"/>
            <a:ext cx="1111472" cy="961913"/>
          </a:xfrm>
          <a:prstGeom prst="rect">
            <a:avLst/>
          </a:prstGeom>
          <a:noFill/>
          <a:ln>
            <a:noFill/>
          </a:ln>
        </p:spPr>
      </p:pic>
      <p:pic>
        <p:nvPicPr>
          <p:cNvPr id="117" name="Google Shape;117;p19"/>
          <p:cNvPicPr preferRelativeResize="0"/>
          <p:nvPr/>
        </p:nvPicPr>
        <p:blipFill>
          <a:blip r:embed="rId6">
            <a:alphaModFix/>
          </a:blip>
          <a:stretch>
            <a:fillRect/>
          </a:stretch>
        </p:blipFill>
        <p:spPr>
          <a:xfrm>
            <a:off x="5654025" y="1777572"/>
            <a:ext cx="1111472" cy="961913"/>
          </a:xfrm>
          <a:prstGeom prst="rect">
            <a:avLst/>
          </a:prstGeom>
          <a:noFill/>
          <a:ln>
            <a:noFill/>
          </a:ln>
        </p:spPr>
      </p:pic>
      <p:pic>
        <p:nvPicPr>
          <p:cNvPr id="118" name="Google Shape;118;p19"/>
          <p:cNvPicPr preferRelativeResize="0"/>
          <p:nvPr/>
        </p:nvPicPr>
        <p:blipFill>
          <a:blip r:embed="rId7">
            <a:alphaModFix/>
          </a:blip>
          <a:stretch>
            <a:fillRect/>
          </a:stretch>
        </p:blipFill>
        <p:spPr>
          <a:xfrm>
            <a:off x="5587011" y="756240"/>
            <a:ext cx="1245500" cy="799942"/>
          </a:xfrm>
          <a:prstGeom prst="rect">
            <a:avLst/>
          </a:prstGeom>
          <a:noFill/>
          <a:ln>
            <a:noFill/>
          </a:ln>
        </p:spPr>
      </p:pic>
      <p:pic>
        <p:nvPicPr>
          <p:cNvPr id="119" name="Google Shape;119;p19"/>
          <p:cNvPicPr preferRelativeResize="0"/>
          <p:nvPr/>
        </p:nvPicPr>
        <p:blipFill>
          <a:blip r:embed="rId8">
            <a:alphaModFix/>
          </a:blip>
          <a:stretch>
            <a:fillRect/>
          </a:stretch>
        </p:blipFill>
        <p:spPr>
          <a:xfrm>
            <a:off x="7380302" y="1666762"/>
            <a:ext cx="848475" cy="555275"/>
          </a:xfrm>
          <a:prstGeom prst="rect">
            <a:avLst/>
          </a:prstGeom>
          <a:noFill/>
          <a:ln>
            <a:noFill/>
          </a:ln>
        </p:spPr>
      </p:pic>
      <p:cxnSp>
        <p:nvCxnSpPr>
          <p:cNvPr id="120" name="Google Shape;120;p19"/>
          <p:cNvCxnSpPr/>
          <p:nvPr/>
        </p:nvCxnSpPr>
        <p:spPr>
          <a:xfrm>
            <a:off x="6958825" y="3257288"/>
            <a:ext cx="664200" cy="383400"/>
          </a:xfrm>
          <a:prstGeom prst="straightConnector1">
            <a:avLst/>
          </a:prstGeom>
          <a:noFill/>
          <a:ln w="19050" cap="rnd" cmpd="sng">
            <a:solidFill>
              <a:schemeClr val="accent3"/>
            </a:solidFill>
            <a:prstDash val="dash"/>
            <a:round/>
            <a:headEnd type="none" w="med" len="med"/>
            <a:tailEnd type="none" w="med" len="med"/>
          </a:ln>
        </p:spPr>
      </p:cxnSp>
      <p:cxnSp>
        <p:nvCxnSpPr>
          <p:cNvPr id="121" name="Google Shape;121;p19"/>
          <p:cNvCxnSpPr/>
          <p:nvPr/>
        </p:nvCxnSpPr>
        <p:spPr>
          <a:xfrm>
            <a:off x="4910575" y="2035238"/>
            <a:ext cx="559800" cy="323100"/>
          </a:xfrm>
          <a:prstGeom prst="straightConnector1">
            <a:avLst/>
          </a:prstGeom>
          <a:noFill/>
          <a:ln w="19050" cap="rnd" cmpd="sng">
            <a:solidFill>
              <a:schemeClr val="accent6"/>
            </a:solidFill>
            <a:prstDash val="dash"/>
            <a:round/>
            <a:headEnd type="none" w="med" len="med"/>
            <a:tailEnd type="none" w="med" len="med"/>
          </a:ln>
        </p:spPr>
      </p:cxnSp>
      <p:pic>
        <p:nvPicPr>
          <p:cNvPr id="122" name="Google Shape;122;p19"/>
          <p:cNvPicPr preferRelativeResize="0"/>
          <p:nvPr/>
        </p:nvPicPr>
        <p:blipFill>
          <a:blip r:embed="rId9">
            <a:alphaModFix/>
          </a:blip>
          <a:stretch>
            <a:fillRect/>
          </a:stretch>
        </p:blipFill>
        <p:spPr>
          <a:xfrm>
            <a:off x="7703038" y="1370716"/>
            <a:ext cx="190716" cy="555275"/>
          </a:xfrm>
          <a:prstGeom prst="rect">
            <a:avLst/>
          </a:prstGeom>
          <a:noFill/>
          <a:ln>
            <a:noFill/>
          </a:ln>
        </p:spPr>
      </p:pic>
      <p:cxnSp>
        <p:nvCxnSpPr>
          <p:cNvPr id="123" name="Google Shape;123;p19"/>
          <p:cNvCxnSpPr/>
          <p:nvPr/>
        </p:nvCxnSpPr>
        <p:spPr>
          <a:xfrm flipH="1">
            <a:off x="4637575" y="3181088"/>
            <a:ext cx="936600" cy="540900"/>
          </a:xfrm>
          <a:prstGeom prst="straightConnector1">
            <a:avLst/>
          </a:prstGeom>
          <a:noFill/>
          <a:ln w="19050" cap="rnd" cmpd="sng">
            <a:solidFill>
              <a:schemeClr val="accent3"/>
            </a:solidFill>
            <a:prstDash val="dash"/>
            <a:round/>
            <a:headEnd type="none" w="med" len="med"/>
            <a:tailEnd type="none" w="med" len="med"/>
          </a:ln>
        </p:spPr>
      </p:cxnSp>
      <p:cxnSp>
        <p:nvCxnSpPr>
          <p:cNvPr id="124" name="Google Shape;124;p19"/>
          <p:cNvCxnSpPr/>
          <p:nvPr/>
        </p:nvCxnSpPr>
        <p:spPr>
          <a:xfrm flipH="1">
            <a:off x="6910225" y="2111438"/>
            <a:ext cx="559800" cy="323100"/>
          </a:xfrm>
          <a:prstGeom prst="straightConnector1">
            <a:avLst/>
          </a:prstGeom>
          <a:noFill/>
          <a:ln w="19050" cap="rnd" cmpd="sng">
            <a:solidFill>
              <a:schemeClr val="accent1"/>
            </a:solidFill>
            <a:prstDash val="dash"/>
            <a:round/>
            <a:headEnd type="none" w="med" len="med"/>
            <a:tailEnd type="none" w="med" len="med"/>
          </a:ln>
        </p:spPr>
      </p:cxnSp>
      <p:pic>
        <p:nvPicPr>
          <p:cNvPr id="125" name="Google Shape;125;p19"/>
          <p:cNvPicPr preferRelativeResize="0"/>
          <p:nvPr/>
        </p:nvPicPr>
        <p:blipFill>
          <a:blip r:embed="rId10">
            <a:alphaModFix/>
          </a:blip>
          <a:stretch>
            <a:fillRect/>
          </a:stretch>
        </p:blipFill>
        <p:spPr>
          <a:xfrm>
            <a:off x="4422863" y="2732996"/>
            <a:ext cx="1019495" cy="1122001"/>
          </a:xfrm>
          <a:prstGeom prst="rect">
            <a:avLst/>
          </a:prstGeom>
          <a:noFill/>
          <a:ln>
            <a:noFill/>
          </a:ln>
        </p:spPr>
      </p:pic>
      <p:pic>
        <p:nvPicPr>
          <p:cNvPr id="126" name="Google Shape;126;p19"/>
          <p:cNvPicPr preferRelativeResize="0"/>
          <p:nvPr/>
        </p:nvPicPr>
        <p:blipFill>
          <a:blip r:embed="rId11">
            <a:alphaModFix/>
          </a:blip>
          <a:stretch>
            <a:fillRect/>
          </a:stretch>
        </p:blipFill>
        <p:spPr>
          <a:xfrm>
            <a:off x="7660716" y="3287994"/>
            <a:ext cx="430025" cy="599150"/>
          </a:xfrm>
          <a:prstGeom prst="rect">
            <a:avLst/>
          </a:prstGeom>
          <a:noFill/>
          <a:ln>
            <a:noFill/>
          </a:ln>
        </p:spPr>
      </p:pic>
      <p:pic>
        <p:nvPicPr>
          <p:cNvPr id="127" name="Google Shape;127;p19"/>
          <p:cNvPicPr preferRelativeResize="0"/>
          <p:nvPr/>
        </p:nvPicPr>
        <p:blipFill>
          <a:blip r:embed="rId12">
            <a:alphaModFix/>
          </a:blip>
          <a:stretch>
            <a:fillRect/>
          </a:stretch>
        </p:blipFill>
        <p:spPr>
          <a:xfrm>
            <a:off x="8034133" y="3448355"/>
            <a:ext cx="430025" cy="599150"/>
          </a:xfrm>
          <a:prstGeom prst="rect">
            <a:avLst/>
          </a:prstGeom>
          <a:noFill/>
          <a:ln>
            <a:noFill/>
          </a:ln>
        </p:spPr>
      </p:pic>
      <p:sp>
        <p:nvSpPr>
          <p:cNvPr id="128" name="Google Shape;128;p19"/>
          <p:cNvSpPr/>
          <p:nvPr/>
        </p:nvSpPr>
        <p:spPr>
          <a:xfrm>
            <a:off x="6114350" y="1645250"/>
            <a:ext cx="190800" cy="476700"/>
          </a:xfrm>
          <a:prstGeom prst="upDownArrow">
            <a:avLst>
              <a:gd name="adj1" fmla="val 50000"/>
              <a:gd name="adj2" fmla="val 50000"/>
            </a:avLst>
          </a:prstGeom>
          <a:gradFill>
            <a:gsLst>
              <a:gs pos="0">
                <a:schemeClr val="accent4"/>
              </a:gs>
              <a:gs pos="100000">
                <a:srgbClr val="00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564847" y="12121"/>
            <a:ext cx="64056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Tools used in the Project</a:t>
            </a:r>
            <a:endParaRPr dirty="0"/>
          </a:p>
        </p:txBody>
      </p:sp>
      <p:sp>
        <p:nvSpPr>
          <p:cNvPr id="143" name="Google Shape;143;p21"/>
          <p:cNvSpPr txBox="1">
            <a:spLocks noGrp="1"/>
          </p:cNvSpPr>
          <p:nvPr>
            <p:ph type="body" idx="2"/>
          </p:nvPr>
        </p:nvSpPr>
        <p:spPr>
          <a:xfrm>
            <a:off x="483452" y="1344015"/>
            <a:ext cx="3416115" cy="32022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b="1" dirty="0">
                <a:solidFill>
                  <a:schemeClr val="bg1"/>
                </a:solidFill>
              </a:rPr>
              <a:t>Virtualizations &amp; OS Platforms</a:t>
            </a:r>
            <a:endParaRPr b="1" dirty="0">
              <a:solidFill>
                <a:schemeClr val="bg1"/>
              </a:solidFill>
            </a:endParaRPr>
          </a:p>
          <a:p>
            <a:pPr marL="285750" indent="-285750"/>
            <a:r>
              <a:rPr lang="en" sz="1400" b="1" dirty="0">
                <a:solidFill>
                  <a:schemeClr val="bg1"/>
                </a:solidFill>
              </a:rPr>
              <a:t>UTM</a:t>
            </a:r>
            <a:r>
              <a:rPr lang="en" sz="1400" dirty="0">
                <a:solidFill>
                  <a:schemeClr val="bg1"/>
                </a:solidFill>
              </a:rPr>
              <a:t> for virtual machine management and network simulation</a:t>
            </a:r>
          </a:p>
          <a:p>
            <a:pPr marL="285750" indent="-285750"/>
            <a:r>
              <a:rPr lang="en" sz="1400" b="1" dirty="0">
                <a:solidFill>
                  <a:schemeClr val="bg1"/>
                </a:solidFill>
              </a:rPr>
              <a:t>Parrot OS </a:t>
            </a:r>
            <a:r>
              <a:rPr lang="en" sz="1400" dirty="0">
                <a:solidFill>
                  <a:schemeClr val="bg1"/>
                </a:solidFill>
              </a:rPr>
              <a:t>as security-focused agents for monitoring</a:t>
            </a:r>
          </a:p>
          <a:p>
            <a:pPr marL="285750" indent="-285750"/>
            <a:r>
              <a:rPr lang="en" sz="1400" b="1" dirty="0">
                <a:solidFill>
                  <a:schemeClr val="bg1"/>
                </a:solidFill>
              </a:rPr>
              <a:t>Kali Linux </a:t>
            </a:r>
            <a:r>
              <a:rPr lang="en" sz="1400" dirty="0">
                <a:solidFill>
                  <a:schemeClr val="bg1"/>
                </a:solidFill>
              </a:rPr>
              <a:t>for penetration testing and attack simulation</a:t>
            </a:r>
            <a:endParaRPr sz="1400" dirty="0">
              <a:solidFill>
                <a:schemeClr val="bg1"/>
              </a:solidFill>
            </a:endParaRPr>
          </a:p>
        </p:txBody>
      </p:sp>
      <p:sp>
        <p:nvSpPr>
          <p:cNvPr id="145" name="Google Shape;145;p2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11" name="Google Shape;143;p21">
            <a:extLst>
              <a:ext uri="{FF2B5EF4-FFF2-40B4-BE49-F238E27FC236}">
                <a16:creationId xmlns:a16="http://schemas.microsoft.com/office/drawing/2014/main" id="{DCFE3E95-5CD3-D3DA-6504-269B8B908269}"/>
              </a:ext>
            </a:extLst>
          </p:cNvPr>
          <p:cNvSpPr txBox="1">
            <a:spLocks/>
          </p:cNvSpPr>
          <p:nvPr/>
        </p:nvSpPr>
        <p:spPr>
          <a:xfrm>
            <a:off x="4624824" y="1344015"/>
            <a:ext cx="3416115" cy="3202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buFont typeface="Muli"/>
              <a:buNone/>
            </a:pPr>
            <a:r>
              <a:rPr lang="en-US" b="1" dirty="0">
                <a:solidFill>
                  <a:schemeClr val="bg1"/>
                </a:solidFill>
              </a:rPr>
              <a:t>Detection &amp; Visualization Tools</a:t>
            </a:r>
          </a:p>
          <a:p>
            <a:pPr marL="285750" indent="-285750"/>
            <a:r>
              <a:rPr lang="en-US" sz="1400" b="1" dirty="0">
                <a:solidFill>
                  <a:schemeClr val="bg1"/>
                </a:solidFill>
              </a:rPr>
              <a:t>Wazuh</a:t>
            </a:r>
            <a:r>
              <a:rPr lang="en-US" sz="1400" dirty="0">
                <a:solidFill>
                  <a:schemeClr val="bg1"/>
                </a:solidFill>
              </a:rPr>
              <a:t> SIEM for comprehensive  treat detection and analysis</a:t>
            </a:r>
          </a:p>
          <a:p>
            <a:pPr marL="285750" indent="-285750"/>
            <a:r>
              <a:rPr lang="en-US" sz="1400" b="1" dirty="0">
                <a:solidFill>
                  <a:schemeClr val="bg1"/>
                </a:solidFill>
              </a:rPr>
              <a:t>Grafana</a:t>
            </a:r>
            <a:r>
              <a:rPr lang="en-US" sz="1400" dirty="0">
                <a:solidFill>
                  <a:schemeClr val="bg1"/>
                </a:solidFill>
              </a:rPr>
              <a:t> for real-time dashboard visualization and monitoring</a:t>
            </a:r>
          </a:p>
          <a:p>
            <a:pPr marL="285750" indent="-285750"/>
            <a:r>
              <a:rPr lang="en-US" sz="1400" b="1" dirty="0">
                <a:solidFill>
                  <a:schemeClr val="bg1"/>
                </a:solidFill>
              </a:rPr>
              <a:t>Discord</a:t>
            </a:r>
            <a:r>
              <a:rPr lang="en-US" sz="1400" dirty="0">
                <a:solidFill>
                  <a:schemeClr val="bg1"/>
                </a:solidFill>
              </a:rPr>
              <a:t> for automated notification delivery and incident alerts</a:t>
            </a:r>
          </a:p>
        </p:txBody>
      </p:sp>
      <p:grpSp>
        <p:nvGrpSpPr>
          <p:cNvPr id="16" name="Group 15">
            <a:extLst>
              <a:ext uri="{FF2B5EF4-FFF2-40B4-BE49-F238E27FC236}">
                <a16:creationId xmlns:a16="http://schemas.microsoft.com/office/drawing/2014/main" id="{D356EF78-1628-F3FE-3EDD-7BA535BEABA1}"/>
              </a:ext>
            </a:extLst>
          </p:cNvPr>
          <p:cNvGrpSpPr/>
          <p:nvPr/>
        </p:nvGrpSpPr>
        <p:grpSpPr>
          <a:xfrm>
            <a:off x="483452" y="3931911"/>
            <a:ext cx="3130502" cy="1003387"/>
            <a:chOff x="483452" y="3931911"/>
            <a:chExt cx="3130502" cy="1003387"/>
          </a:xfrm>
        </p:grpSpPr>
        <p:sp>
          <p:nvSpPr>
            <p:cNvPr id="14" name="Rounded Rectangle 13">
              <a:extLst>
                <a:ext uri="{FF2B5EF4-FFF2-40B4-BE49-F238E27FC236}">
                  <a16:creationId xmlns:a16="http://schemas.microsoft.com/office/drawing/2014/main" id="{DDA1A6FF-2CE3-C25E-0C15-45460FC24775}"/>
                </a:ext>
              </a:extLst>
            </p:cNvPr>
            <p:cNvSpPr/>
            <p:nvPr/>
          </p:nvSpPr>
          <p:spPr>
            <a:xfrm>
              <a:off x="483452" y="3931911"/>
              <a:ext cx="3130502" cy="100338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UTM | Virtual machines for Mac">
              <a:extLst>
                <a:ext uri="{FF2B5EF4-FFF2-40B4-BE49-F238E27FC236}">
                  <a16:creationId xmlns:a16="http://schemas.microsoft.com/office/drawing/2014/main" id="{2D7752D0-B02B-2E34-9AF9-0F77DED4C8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213" y="3956357"/>
              <a:ext cx="937416" cy="93741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arrot Security · GitHub">
              <a:extLst>
                <a:ext uri="{FF2B5EF4-FFF2-40B4-BE49-F238E27FC236}">
                  <a16:creationId xmlns:a16="http://schemas.microsoft.com/office/drawing/2014/main" id="{AEF733CD-0265-4A8F-5902-73F7F4154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1177" y="4050701"/>
              <a:ext cx="699150" cy="6991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blue dragon with black background&#10;&#10;AI-generated content may be incorrect.">
              <a:extLst>
                <a:ext uri="{FF2B5EF4-FFF2-40B4-BE49-F238E27FC236}">
                  <a16:creationId xmlns:a16="http://schemas.microsoft.com/office/drawing/2014/main" id="{6707BB83-7CE7-B986-EB21-9F76F59729CE}"/>
                </a:ext>
              </a:extLst>
            </p:cNvPr>
            <p:cNvPicPr>
              <a:picLocks noChangeAspect="1"/>
            </p:cNvPicPr>
            <p:nvPr/>
          </p:nvPicPr>
          <p:blipFill>
            <a:blip r:embed="rId5"/>
            <a:stretch>
              <a:fillRect/>
            </a:stretch>
          </p:blipFill>
          <p:spPr>
            <a:xfrm>
              <a:off x="2410891" y="4035242"/>
              <a:ext cx="1099691" cy="858531"/>
            </a:xfrm>
            <a:prstGeom prst="rect">
              <a:avLst/>
            </a:prstGeom>
          </p:spPr>
        </p:pic>
      </p:grpSp>
      <p:grpSp>
        <p:nvGrpSpPr>
          <p:cNvPr id="18" name="Group 17">
            <a:extLst>
              <a:ext uri="{FF2B5EF4-FFF2-40B4-BE49-F238E27FC236}">
                <a16:creationId xmlns:a16="http://schemas.microsoft.com/office/drawing/2014/main" id="{C2DEF71C-4F9B-D693-2209-927439A11458}"/>
              </a:ext>
            </a:extLst>
          </p:cNvPr>
          <p:cNvGrpSpPr/>
          <p:nvPr/>
        </p:nvGrpSpPr>
        <p:grpSpPr>
          <a:xfrm>
            <a:off x="4539216" y="3920635"/>
            <a:ext cx="4044740" cy="1003387"/>
            <a:chOff x="4435844" y="4041493"/>
            <a:chExt cx="4044740" cy="1003387"/>
          </a:xfrm>
        </p:grpSpPr>
        <p:sp>
          <p:nvSpPr>
            <p:cNvPr id="15" name="Rounded Rectangle 14">
              <a:extLst>
                <a:ext uri="{FF2B5EF4-FFF2-40B4-BE49-F238E27FC236}">
                  <a16:creationId xmlns:a16="http://schemas.microsoft.com/office/drawing/2014/main" id="{C3C9BE36-CB1A-6095-38D8-CA7E98375D35}"/>
                </a:ext>
              </a:extLst>
            </p:cNvPr>
            <p:cNvSpPr/>
            <p:nvPr/>
          </p:nvSpPr>
          <p:spPr>
            <a:xfrm>
              <a:off x="4435844" y="4041493"/>
              <a:ext cx="4044740" cy="100338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FD9B49F7-02C4-46F4-2487-55C497588D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4875" y="4194622"/>
              <a:ext cx="699151" cy="699151"/>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Wazuh Rebranding Announcement | Open Source XDR. Open Source SIEM">
              <a:extLst>
                <a:ext uri="{FF2B5EF4-FFF2-40B4-BE49-F238E27FC236}">
                  <a16:creationId xmlns:a16="http://schemas.microsoft.com/office/drawing/2014/main" id="{D8880238-3C96-D43D-A087-C35762F13E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8414" y="4165594"/>
              <a:ext cx="2261286" cy="756510"/>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A recommendation for the new Discord logo – Discord">
              <a:extLst>
                <a:ext uri="{FF2B5EF4-FFF2-40B4-BE49-F238E27FC236}">
                  <a16:creationId xmlns:a16="http://schemas.microsoft.com/office/drawing/2014/main" id="{F0F9DA40-0917-11CB-4D3C-78120938E7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77948" y="4196206"/>
              <a:ext cx="699151" cy="69915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1">
          <a:extLst>
            <a:ext uri="{FF2B5EF4-FFF2-40B4-BE49-F238E27FC236}">
              <a16:creationId xmlns:a16="http://schemas.microsoft.com/office/drawing/2014/main" id="{B24E0A7A-357C-42D7-E846-F2250E15AEA9}"/>
            </a:ext>
          </a:extLst>
        </p:cNvPr>
        <p:cNvGrpSpPr/>
        <p:nvPr/>
      </p:nvGrpSpPr>
      <p:grpSpPr>
        <a:xfrm>
          <a:off x="0" y="0"/>
          <a:ext cx="0" cy="0"/>
          <a:chOff x="0" y="0"/>
          <a:chExt cx="0" cy="0"/>
        </a:xfrm>
      </p:grpSpPr>
      <p:sp>
        <p:nvSpPr>
          <p:cNvPr id="442" name="Google Shape;442;p40">
            <a:extLst>
              <a:ext uri="{FF2B5EF4-FFF2-40B4-BE49-F238E27FC236}">
                <a16:creationId xmlns:a16="http://schemas.microsoft.com/office/drawing/2014/main" id="{41E187CE-E766-D228-A3A1-260ECED0B91E}"/>
              </a:ext>
            </a:extLst>
          </p:cNvPr>
          <p:cNvSpPr txBox="1">
            <a:spLocks noGrp="1"/>
          </p:cNvSpPr>
          <p:nvPr>
            <p:ph type="title"/>
          </p:nvPr>
        </p:nvSpPr>
        <p:spPr>
          <a:xfrm>
            <a:off x="512920" y="-54998"/>
            <a:ext cx="8155592" cy="857400"/>
          </a:xfrm>
          <a:prstGeom prst="rect">
            <a:avLst/>
          </a:prstGeom>
        </p:spPr>
        <p:txBody>
          <a:bodyPr spcFirstLastPara="1" wrap="square" lIns="0" tIns="0" rIns="0" bIns="0" anchor="b" anchorCtr="0">
            <a:noAutofit/>
          </a:bodyPr>
          <a:lstStyle/>
          <a:p>
            <a:r>
              <a:rPr lang="en-US" dirty="0"/>
              <a:t>SOC Implementation Work Process</a:t>
            </a:r>
          </a:p>
        </p:txBody>
      </p:sp>
      <p:sp>
        <p:nvSpPr>
          <p:cNvPr id="443" name="Google Shape;443;p40">
            <a:extLst>
              <a:ext uri="{FF2B5EF4-FFF2-40B4-BE49-F238E27FC236}">
                <a16:creationId xmlns:a16="http://schemas.microsoft.com/office/drawing/2014/main" id="{D4EA2340-F0FB-EA17-3B43-0288CD9CC1BA}"/>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8</a:t>
            </a:fld>
            <a:endParaRPr dirty="0"/>
          </a:p>
        </p:txBody>
      </p:sp>
      <p:sp>
        <p:nvSpPr>
          <p:cNvPr id="444" name="Google Shape;444;p40">
            <a:extLst>
              <a:ext uri="{FF2B5EF4-FFF2-40B4-BE49-F238E27FC236}">
                <a16:creationId xmlns:a16="http://schemas.microsoft.com/office/drawing/2014/main" id="{CEFC4BD0-E3A7-A330-F262-5CA002F0F044}"/>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40">
            <a:extLst>
              <a:ext uri="{FF2B5EF4-FFF2-40B4-BE49-F238E27FC236}">
                <a16:creationId xmlns:a16="http://schemas.microsoft.com/office/drawing/2014/main" id="{59FD3AD6-ED6B-6286-895D-E23274C686B1}"/>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l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446" name="Google Shape;446;p40">
            <a:extLst>
              <a:ext uri="{FF2B5EF4-FFF2-40B4-BE49-F238E27FC236}">
                <a16:creationId xmlns:a16="http://schemas.microsoft.com/office/drawing/2014/main" id="{C297D291-904A-6182-CE5D-AEDBABB9E565}"/>
              </a:ext>
            </a:extLst>
          </p:cNvPr>
          <p:cNvGrpSpPr/>
          <p:nvPr/>
        </p:nvGrpSpPr>
        <p:grpSpPr>
          <a:xfrm>
            <a:off x="1786339" y="1703401"/>
            <a:ext cx="473400" cy="473400"/>
            <a:chOff x="1786339" y="1703401"/>
            <a:chExt cx="473400" cy="473400"/>
          </a:xfrm>
        </p:grpSpPr>
        <p:sp>
          <p:nvSpPr>
            <p:cNvPr id="447" name="Google Shape;447;p40">
              <a:extLst>
                <a:ext uri="{FF2B5EF4-FFF2-40B4-BE49-F238E27FC236}">
                  <a16:creationId xmlns:a16="http://schemas.microsoft.com/office/drawing/2014/main" id="{4C724116-034D-ACBB-DB64-D9E89FF2EFDD}"/>
                </a:ext>
              </a:extLst>
            </p:cNvPr>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6452142B-89D6-C5AC-567C-1E9657AEDC3A}"/>
                </a:ext>
              </a:extLst>
            </p:cNvPr>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1</a:t>
              </a:r>
              <a:endParaRPr sz="600">
                <a:solidFill>
                  <a:schemeClr val="dk2"/>
                </a:solidFill>
                <a:latin typeface="Muli"/>
                <a:ea typeface="Muli"/>
                <a:cs typeface="Muli"/>
                <a:sym typeface="Muli"/>
              </a:endParaRPr>
            </a:p>
          </p:txBody>
        </p:sp>
      </p:grpSp>
      <p:grpSp>
        <p:nvGrpSpPr>
          <p:cNvPr id="449" name="Google Shape;449;p40">
            <a:extLst>
              <a:ext uri="{FF2B5EF4-FFF2-40B4-BE49-F238E27FC236}">
                <a16:creationId xmlns:a16="http://schemas.microsoft.com/office/drawing/2014/main" id="{3650C534-416D-8B03-C9DE-6E90CB2986FC}"/>
              </a:ext>
            </a:extLst>
          </p:cNvPr>
          <p:cNvGrpSpPr/>
          <p:nvPr/>
        </p:nvGrpSpPr>
        <p:grpSpPr>
          <a:xfrm>
            <a:off x="3814414" y="1703401"/>
            <a:ext cx="473400" cy="473400"/>
            <a:chOff x="3814414" y="1703401"/>
            <a:chExt cx="473400" cy="473400"/>
          </a:xfrm>
        </p:grpSpPr>
        <p:sp>
          <p:nvSpPr>
            <p:cNvPr id="450" name="Google Shape;450;p40">
              <a:extLst>
                <a:ext uri="{FF2B5EF4-FFF2-40B4-BE49-F238E27FC236}">
                  <a16:creationId xmlns:a16="http://schemas.microsoft.com/office/drawing/2014/main" id="{16D44AB9-4DE4-B521-06D2-68AFA2FFD74E}"/>
                </a:ext>
              </a:extLst>
            </p:cNvPr>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BF07774F-122A-FE1F-A9C2-D485ACCC064D}"/>
                </a:ext>
              </a:extLst>
            </p:cNvPr>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3</a:t>
              </a:r>
              <a:endParaRPr sz="600">
                <a:solidFill>
                  <a:schemeClr val="dk2"/>
                </a:solidFill>
                <a:latin typeface="Muli"/>
                <a:ea typeface="Muli"/>
                <a:cs typeface="Muli"/>
                <a:sym typeface="Muli"/>
              </a:endParaRPr>
            </a:p>
          </p:txBody>
        </p:sp>
      </p:grpSp>
      <p:grpSp>
        <p:nvGrpSpPr>
          <p:cNvPr id="452" name="Google Shape;452;p40">
            <a:extLst>
              <a:ext uri="{FF2B5EF4-FFF2-40B4-BE49-F238E27FC236}">
                <a16:creationId xmlns:a16="http://schemas.microsoft.com/office/drawing/2014/main" id="{E86B7FFB-CBE1-266F-D0CC-B7701AD81F01}"/>
              </a:ext>
            </a:extLst>
          </p:cNvPr>
          <p:cNvGrpSpPr/>
          <p:nvPr/>
        </p:nvGrpSpPr>
        <p:grpSpPr>
          <a:xfrm>
            <a:off x="5842489" y="1703401"/>
            <a:ext cx="473400" cy="473400"/>
            <a:chOff x="5842489" y="1703401"/>
            <a:chExt cx="473400" cy="473400"/>
          </a:xfrm>
        </p:grpSpPr>
        <p:sp>
          <p:nvSpPr>
            <p:cNvPr id="453" name="Google Shape;453;p40">
              <a:extLst>
                <a:ext uri="{FF2B5EF4-FFF2-40B4-BE49-F238E27FC236}">
                  <a16:creationId xmlns:a16="http://schemas.microsoft.com/office/drawing/2014/main" id="{32045327-4BEF-AD77-034D-733D40723558}"/>
                </a:ext>
              </a:extLst>
            </p:cNvPr>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0">
              <a:extLst>
                <a:ext uri="{FF2B5EF4-FFF2-40B4-BE49-F238E27FC236}">
                  <a16:creationId xmlns:a16="http://schemas.microsoft.com/office/drawing/2014/main" id="{AD2F2B62-1B0B-A397-8C17-62B1D37F1140}"/>
                </a:ext>
              </a:extLst>
            </p:cNvPr>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5</a:t>
              </a:r>
              <a:endParaRPr sz="600">
                <a:solidFill>
                  <a:schemeClr val="dk2"/>
                </a:solidFill>
                <a:latin typeface="Muli"/>
                <a:ea typeface="Muli"/>
                <a:cs typeface="Muli"/>
                <a:sym typeface="Muli"/>
              </a:endParaRPr>
            </a:p>
          </p:txBody>
        </p:sp>
      </p:grpSp>
      <p:grpSp>
        <p:nvGrpSpPr>
          <p:cNvPr id="455" name="Google Shape;455;p40">
            <a:extLst>
              <a:ext uri="{FF2B5EF4-FFF2-40B4-BE49-F238E27FC236}">
                <a16:creationId xmlns:a16="http://schemas.microsoft.com/office/drawing/2014/main" id="{4DCB5A46-7740-8D4B-00B5-F7EC95F9AC7A}"/>
              </a:ext>
            </a:extLst>
          </p:cNvPr>
          <p:cNvGrpSpPr/>
          <p:nvPr/>
        </p:nvGrpSpPr>
        <p:grpSpPr>
          <a:xfrm>
            <a:off x="6880814" y="3576300"/>
            <a:ext cx="473400" cy="473400"/>
            <a:chOff x="6880814" y="3576300"/>
            <a:chExt cx="473400" cy="473400"/>
          </a:xfrm>
        </p:grpSpPr>
        <p:sp>
          <p:nvSpPr>
            <p:cNvPr id="456" name="Google Shape;456;p40">
              <a:extLst>
                <a:ext uri="{FF2B5EF4-FFF2-40B4-BE49-F238E27FC236}">
                  <a16:creationId xmlns:a16="http://schemas.microsoft.com/office/drawing/2014/main" id="{4D0300DB-CFEA-C0C6-4CBB-B7FC07521B7C}"/>
                </a:ext>
              </a:extLst>
            </p:cNvPr>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0">
              <a:extLst>
                <a:ext uri="{FF2B5EF4-FFF2-40B4-BE49-F238E27FC236}">
                  <a16:creationId xmlns:a16="http://schemas.microsoft.com/office/drawing/2014/main" id="{21BA1DF2-8F5C-345B-6781-89748AD83B42}"/>
                </a:ext>
              </a:extLst>
            </p:cNvPr>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6</a:t>
              </a:r>
              <a:endParaRPr sz="600">
                <a:solidFill>
                  <a:schemeClr val="dk2"/>
                </a:solidFill>
                <a:latin typeface="Muli"/>
                <a:ea typeface="Muli"/>
                <a:cs typeface="Muli"/>
                <a:sym typeface="Muli"/>
              </a:endParaRPr>
            </a:p>
          </p:txBody>
        </p:sp>
      </p:grpSp>
      <p:grpSp>
        <p:nvGrpSpPr>
          <p:cNvPr id="458" name="Google Shape;458;p40">
            <a:extLst>
              <a:ext uri="{FF2B5EF4-FFF2-40B4-BE49-F238E27FC236}">
                <a16:creationId xmlns:a16="http://schemas.microsoft.com/office/drawing/2014/main" id="{7CC78709-902E-F2FC-B3CF-D2F8EBDA63C7}"/>
              </a:ext>
            </a:extLst>
          </p:cNvPr>
          <p:cNvGrpSpPr/>
          <p:nvPr/>
        </p:nvGrpSpPr>
        <p:grpSpPr>
          <a:xfrm>
            <a:off x="4852739" y="3576300"/>
            <a:ext cx="473400" cy="473400"/>
            <a:chOff x="4852739" y="3576300"/>
            <a:chExt cx="473400" cy="473400"/>
          </a:xfrm>
        </p:grpSpPr>
        <p:sp>
          <p:nvSpPr>
            <p:cNvPr id="459" name="Google Shape;459;p40">
              <a:extLst>
                <a:ext uri="{FF2B5EF4-FFF2-40B4-BE49-F238E27FC236}">
                  <a16:creationId xmlns:a16="http://schemas.microsoft.com/office/drawing/2014/main" id="{E92D5CE7-6218-838C-EB05-DF23898B5F58}"/>
                </a:ext>
              </a:extLst>
            </p:cNvPr>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0">
              <a:extLst>
                <a:ext uri="{FF2B5EF4-FFF2-40B4-BE49-F238E27FC236}">
                  <a16:creationId xmlns:a16="http://schemas.microsoft.com/office/drawing/2014/main" id="{282998DB-B1A3-E26F-D271-56D97BD6A801}"/>
                </a:ext>
              </a:extLst>
            </p:cNvPr>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4</a:t>
              </a:r>
              <a:endParaRPr sz="600">
                <a:solidFill>
                  <a:schemeClr val="dk2"/>
                </a:solidFill>
                <a:latin typeface="Muli"/>
                <a:ea typeface="Muli"/>
                <a:cs typeface="Muli"/>
                <a:sym typeface="Muli"/>
              </a:endParaRPr>
            </a:p>
          </p:txBody>
        </p:sp>
      </p:grpSp>
      <p:grpSp>
        <p:nvGrpSpPr>
          <p:cNvPr id="461" name="Google Shape;461;p40">
            <a:extLst>
              <a:ext uri="{FF2B5EF4-FFF2-40B4-BE49-F238E27FC236}">
                <a16:creationId xmlns:a16="http://schemas.microsoft.com/office/drawing/2014/main" id="{816154C6-C541-BFFB-DDCB-1FADF8EFAAE7}"/>
              </a:ext>
            </a:extLst>
          </p:cNvPr>
          <p:cNvGrpSpPr/>
          <p:nvPr/>
        </p:nvGrpSpPr>
        <p:grpSpPr>
          <a:xfrm>
            <a:off x="2824664" y="3576300"/>
            <a:ext cx="473400" cy="473400"/>
            <a:chOff x="2824664" y="3576300"/>
            <a:chExt cx="473400" cy="473400"/>
          </a:xfrm>
        </p:grpSpPr>
        <p:sp>
          <p:nvSpPr>
            <p:cNvPr id="462" name="Google Shape;462;p40">
              <a:extLst>
                <a:ext uri="{FF2B5EF4-FFF2-40B4-BE49-F238E27FC236}">
                  <a16:creationId xmlns:a16="http://schemas.microsoft.com/office/drawing/2014/main" id="{E4690796-AEC4-F834-41C6-F30DBA9C9719}"/>
                </a:ext>
              </a:extLst>
            </p:cNvPr>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0">
              <a:extLst>
                <a:ext uri="{FF2B5EF4-FFF2-40B4-BE49-F238E27FC236}">
                  <a16:creationId xmlns:a16="http://schemas.microsoft.com/office/drawing/2014/main" id="{77BFA934-433B-F4F8-01E8-2ECADA28820E}"/>
                </a:ext>
              </a:extLst>
            </p:cNvPr>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2</a:t>
              </a:r>
              <a:endParaRPr sz="600">
                <a:solidFill>
                  <a:schemeClr val="dk2"/>
                </a:solidFill>
                <a:latin typeface="Muli"/>
                <a:ea typeface="Muli"/>
                <a:cs typeface="Muli"/>
                <a:sym typeface="Muli"/>
              </a:endParaRPr>
            </a:p>
          </p:txBody>
        </p:sp>
      </p:grpSp>
      <p:sp>
        <p:nvSpPr>
          <p:cNvPr id="464" name="Google Shape;464;p40">
            <a:extLst>
              <a:ext uri="{FF2B5EF4-FFF2-40B4-BE49-F238E27FC236}">
                <a16:creationId xmlns:a16="http://schemas.microsoft.com/office/drawing/2014/main" id="{720EFFC3-B7B8-F86B-0704-B2ACCF76B4B5}"/>
              </a:ext>
            </a:extLst>
          </p:cNvPr>
          <p:cNvSpPr txBox="1"/>
          <p:nvPr/>
        </p:nvSpPr>
        <p:spPr>
          <a:xfrm>
            <a:off x="1470359" y="1282048"/>
            <a:ext cx="1827705" cy="533400"/>
          </a:xfrm>
          <a:prstGeom prst="rect">
            <a:avLst/>
          </a:prstGeom>
          <a:noFill/>
          <a:ln>
            <a:noFill/>
          </a:ln>
        </p:spPr>
        <p:txBody>
          <a:bodyPr spcFirstLastPara="1" wrap="square" lIns="0" tIns="0" rIns="0" bIns="0" anchor="b" anchorCtr="0">
            <a:noAutofit/>
          </a:bodyPr>
          <a:lstStyle/>
          <a:p>
            <a:pPr marL="0" marR="0" lvl="0" indent="0" rtl="0">
              <a:lnSpc>
                <a:spcPct val="100000"/>
              </a:lnSpc>
              <a:spcBef>
                <a:spcPts val="0"/>
              </a:spcBef>
              <a:spcAft>
                <a:spcPts val="0"/>
              </a:spcAft>
              <a:buNone/>
            </a:pPr>
            <a:r>
              <a:rPr lang="en" b="1" dirty="0">
                <a:solidFill>
                  <a:schemeClr val="bg1"/>
                </a:solidFill>
                <a:latin typeface="Muli"/>
                <a:ea typeface="Muli"/>
                <a:cs typeface="Muli"/>
                <a:sym typeface="Muli"/>
              </a:rPr>
              <a:t>Design Network Architecture</a:t>
            </a: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5" name="Google Shape;465;p40">
            <a:extLst>
              <a:ext uri="{FF2B5EF4-FFF2-40B4-BE49-F238E27FC236}">
                <a16:creationId xmlns:a16="http://schemas.microsoft.com/office/drawing/2014/main" id="{200DDCC9-843B-EB11-E13E-AEDCC3BAF049}"/>
              </a:ext>
            </a:extLst>
          </p:cNvPr>
          <p:cNvSpPr txBox="1"/>
          <p:nvPr/>
        </p:nvSpPr>
        <p:spPr>
          <a:xfrm>
            <a:off x="3393019" y="1282048"/>
            <a:ext cx="1717310" cy="533400"/>
          </a:xfrm>
          <a:prstGeom prst="rect">
            <a:avLst/>
          </a:prstGeom>
          <a:noFill/>
          <a:ln>
            <a:noFill/>
          </a:ln>
        </p:spPr>
        <p:txBody>
          <a:bodyPr spcFirstLastPara="1" wrap="square" lIns="0" tIns="0" rIns="0" bIns="0" anchor="b" anchorCtr="0">
            <a:noAutofit/>
          </a:bodyPr>
          <a:lstStyle/>
          <a:p>
            <a:r>
              <a:rPr lang="en-US" b="1" dirty="0">
                <a:solidFill>
                  <a:schemeClr val="bg1"/>
                </a:solidFill>
              </a:rPr>
              <a:t>Install Security Agents</a:t>
            </a:r>
            <a:endParaRPr lang="en-US" dirty="0">
              <a:solidFill>
                <a:schemeClr val="bg1"/>
              </a:solidFill>
            </a:endParaRPr>
          </a:p>
          <a:p>
            <a:endParaRPr lang="en-US" sz="1000" b="1" dirty="0">
              <a:solidFill>
                <a:schemeClr val="bg1"/>
              </a:solidFill>
            </a:endParaRPr>
          </a:p>
        </p:txBody>
      </p:sp>
      <p:sp>
        <p:nvSpPr>
          <p:cNvPr id="466" name="Google Shape;466;p40">
            <a:extLst>
              <a:ext uri="{FF2B5EF4-FFF2-40B4-BE49-F238E27FC236}">
                <a16:creationId xmlns:a16="http://schemas.microsoft.com/office/drawing/2014/main" id="{B27D643C-4649-8714-D93A-05DA467D3EF7}"/>
              </a:ext>
            </a:extLst>
          </p:cNvPr>
          <p:cNvSpPr txBox="1"/>
          <p:nvPr/>
        </p:nvSpPr>
        <p:spPr>
          <a:xfrm>
            <a:off x="5600349" y="1207568"/>
            <a:ext cx="1280465" cy="436086"/>
          </a:xfrm>
          <a:prstGeom prst="rect">
            <a:avLst/>
          </a:prstGeom>
          <a:noFill/>
          <a:ln>
            <a:noFill/>
          </a:ln>
        </p:spPr>
        <p:txBody>
          <a:bodyPr spcFirstLastPara="1" wrap="square" lIns="0" tIns="0" rIns="0" bIns="0" anchor="b" anchorCtr="0">
            <a:noAutofit/>
          </a:bodyPr>
          <a:lstStyle/>
          <a:p>
            <a:r>
              <a:rPr lang="en-US" b="1" dirty="0">
                <a:solidFill>
                  <a:schemeClr val="bg1"/>
                </a:solidFill>
              </a:rPr>
              <a:t>Generate Wazuh Alerts</a:t>
            </a:r>
          </a:p>
        </p:txBody>
      </p:sp>
      <p:sp>
        <p:nvSpPr>
          <p:cNvPr id="467" name="Google Shape;467;p40">
            <a:extLst>
              <a:ext uri="{FF2B5EF4-FFF2-40B4-BE49-F238E27FC236}">
                <a16:creationId xmlns:a16="http://schemas.microsoft.com/office/drawing/2014/main" id="{7B4F8041-8E2F-27D4-4CB5-F316650109EA}"/>
              </a:ext>
            </a:extLst>
          </p:cNvPr>
          <p:cNvSpPr txBox="1"/>
          <p:nvPr/>
        </p:nvSpPr>
        <p:spPr>
          <a:xfrm>
            <a:off x="2470759" y="4113496"/>
            <a:ext cx="1735738" cy="1475051"/>
          </a:xfrm>
          <a:prstGeom prst="rect">
            <a:avLst/>
          </a:prstGeom>
          <a:noFill/>
          <a:ln>
            <a:noFill/>
          </a:ln>
        </p:spPr>
        <p:txBody>
          <a:bodyPr spcFirstLastPara="1" wrap="square" lIns="0" tIns="0" rIns="0" bIns="0" anchor="t" anchorCtr="0">
            <a:noAutofit/>
          </a:bodyPr>
          <a:lstStyle/>
          <a:p>
            <a:r>
              <a:rPr lang="en-US" b="1" dirty="0">
                <a:solidFill>
                  <a:schemeClr val="bg1"/>
                </a:solidFill>
              </a:rPr>
              <a:t>Deploy Virtual Machines</a:t>
            </a:r>
          </a:p>
          <a:p>
            <a:endParaRPr lang="en-US" sz="900" b="1" dirty="0">
              <a:solidFill>
                <a:schemeClr val="bg1"/>
              </a:solidFill>
            </a:endParaRP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8" name="Google Shape;468;p40">
            <a:extLst>
              <a:ext uri="{FF2B5EF4-FFF2-40B4-BE49-F238E27FC236}">
                <a16:creationId xmlns:a16="http://schemas.microsoft.com/office/drawing/2014/main" id="{728D6821-D736-CE6B-1C5D-245A81EFEC62}"/>
              </a:ext>
            </a:extLst>
          </p:cNvPr>
          <p:cNvSpPr txBox="1"/>
          <p:nvPr/>
        </p:nvSpPr>
        <p:spPr>
          <a:xfrm>
            <a:off x="4410503" y="4086214"/>
            <a:ext cx="1601636" cy="533400"/>
          </a:xfrm>
          <a:prstGeom prst="rect">
            <a:avLst/>
          </a:prstGeom>
          <a:noFill/>
          <a:ln>
            <a:noFill/>
          </a:ln>
        </p:spPr>
        <p:txBody>
          <a:bodyPr spcFirstLastPara="1" wrap="square" lIns="0" tIns="0" rIns="0" bIns="0" anchor="t" anchorCtr="0">
            <a:noAutofit/>
          </a:bodyPr>
          <a:lstStyle/>
          <a:p>
            <a:r>
              <a:rPr lang="en-US" b="1" dirty="0">
                <a:solidFill>
                  <a:schemeClr val="bg1"/>
                </a:solidFill>
              </a:rPr>
              <a:t>Simulate Attack Scenarios</a:t>
            </a:r>
          </a:p>
        </p:txBody>
      </p:sp>
      <p:sp>
        <p:nvSpPr>
          <p:cNvPr id="469" name="Google Shape;469;p40">
            <a:extLst>
              <a:ext uri="{FF2B5EF4-FFF2-40B4-BE49-F238E27FC236}">
                <a16:creationId xmlns:a16="http://schemas.microsoft.com/office/drawing/2014/main" id="{E862C7F0-18AB-E99F-B94F-25687BCAA464}"/>
              </a:ext>
            </a:extLst>
          </p:cNvPr>
          <p:cNvSpPr txBox="1"/>
          <p:nvPr/>
        </p:nvSpPr>
        <p:spPr>
          <a:xfrm>
            <a:off x="6518285" y="4062804"/>
            <a:ext cx="1869565" cy="533400"/>
          </a:xfrm>
          <a:prstGeom prst="rect">
            <a:avLst/>
          </a:prstGeom>
          <a:noFill/>
          <a:ln>
            <a:noFill/>
          </a:ln>
        </p:spPr>
        <p:txBody>
          <a:bodyPr spcFirstLastPara="1" wrap="square" lIns="0" tIns="0" rIns="0" bIns="0" anchor="t" anchorCtr="0">
            <a:noAutofit/>
          </a:bodyPr>
          <a:lstStyle/>
          <a:p>
            <a:r>
              <a:rPr lang="en-US" b="1" dirty="0">
                <a:solidFill>
                  <a:schemeClr val="bg1"/>
                </a:solidFill>
              </a:rPr>
              <a:t>Display Grafana Dashboards</a:t>
            </a:r>
          </a:p>
        </p:txBody>
      </p:sp>
    </p:spTree>
    <p:extLst>
      <p:ext uri="{BB962C8B-B14F-4D97-AF65-F5344CB8AC3E}">
        <p14:creationId xmlns:p14="http://schemas.microsoft.com/office/powerpoint/2010/main" val="293736343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28BDDB20-719C-08C0-4A11-8CAB2F6C9F46}"/>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ABFA4CB2-E778-C979-D69E-5916E2519107}"/>
              </a:ext>
            </a:extLst>
          </p:cNvPr>
          <p:cNvSpPr txBox="1">
            <a:spLocks noGrp="1"/>
          </p:cNvSpPr>
          <p:nvPr>
            <p:ph type="title"/>
          </p:nvPr>
        </p:nvSpPr>
        <p:spPr>
          <a:xfrm>
            <a:off x="580550" y="-154998"/>
            <a:ext cx="6014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Project Diagram</a:t>
            </a:r>
            <a:endParaRPr sz="2400" dirty="0"/>
          </a:p>
        </p:txBody>
      </p:sp>
      <p:pic>
        <p:nvPicPr>
          <p:cNvPr id="3" name="Picture 2" descr="A diagram of a software system&#10;&#10;AI-generated content may be incorrect.">
            <a:extLst>
              <a:ext uri="{FF2B5EF4-FFF2-40B4-BE49-F238E27FC236}">
                <a16:creationId xmlns:a16="http://schemas.microsoft.com/office/drawing/2014/main" id="{9E47D9D9-D889-9460-4E62-1675535BEFAA}"/>
              </a:ext>
            </a:extLst>
          </p:cNvPr>
          <p:cNvPicPr>
            <a:picLocks noChangeAspect="1"/>
          </p:cNvPicPr>
          <p:nvPr/>
        </p:nvPicPr>
        <p:blipFill>
          <a:blip r:embed="rId3"/>
          <a:stretch>
            <a:fillRect/>
          </a:stretch>
        </p:blipFill>
        <p:spPr>
          <a:xfrm>
            <a:off x="1810245" y="801364"/>
            <a:ext cx="5523510" cy="4128248"/>
          </a:xfrm>
          <a:prstGeom prst="rect">
            <a:avLst/>
          </a:prstGeom>
        </p:spPr>
      </p:pic>
    </p:spTree>
    <p:extLst>
      <p:ext uri="{BB962C8B-B14F-4D97-AF65-F5344CB8AC3E}">
        <p14:creationId xmlns:p14="http://schemas.microsoft.com/office/powerpoint/2010/main" val="348512416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CF8D17C-1570-B38C-AA94-25A4DAFE33DB}"/>
              </a:ext>
            </a:extLst>
          </p:cNvPr>
          <p:cNvPicPr>
            <a:picLocks noChangeAspect="1"/>
          </p:cNvPicPr>
          <p:nvPr/>
        </p:nvPicPr>
        <p:blipFill>
          <a:blip r:embed="rId3"/>
          <a:srcRect/>
          <a:stretch/>
        </p:blipFill>
        <p:spPr>
          <a:xfrm>
            <a:off x="2412837" y="1136443"/>
            <a:ext cx="4305908" cy="2760725"/>
          </a:xfrm>
          <a:prstGeom prst="rect">
            <a:avLst/>
          </a:prstGeom>
        </p:spPr>
      </p:pic>
      <p:grpSp>
        <p:nvGrpSpPr>
          <p:cNvPr id="8" name="Google Shape;356;p34">
            <a:extLst>
              <a:ext uri="{FF2B5EF4-FFF2-40B4-BE49-F238E27FC236}">
                <a16:creationId xmlns:a16="http://schemas.microsoft.com/office/drawing/2014/main" id="{4DDBBAC9-ACB3-E089-884F-6DBF45983002}"/>
              </a:ext>
            </a:extLst>
          </p:cNvPr>
          <p:cNvGrpSpPr/>
          <p:nvPr/>
        </p:nvGrpSpPr>
        <p:grpSpPr>
          <a:xfrm>
            <a:off x="1990644" y="1092901"/>
            <a:ext cx="5162711" cy="2957697"/>
            <a:chOff x="1177450" y="241631"/>
            <a:chExt cx="6173152" cy="3616776"/>
          </a:xfrm>
        </p:grpSpPr>
        <p:sp>
          <p:nvSpPr>
            <p:cNvPr id="9" name="Google Shape;357;p34">
              <a:extLst>
                <a:ext uri="{FF2B5EF4-FFF2-40B4-BE49-F238E27FC236}">
                  <a16:creationId xmlns:a16="http://schemas.microsoft.com/office/drawing/2014/main" id="{11812CB3-6224-D80A-B024-13F7C995721F}"/>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58;p34">
              <a:extLst>
                <a:ext uri="{FF2B5EF4-FFF2-40B4-BE49-F238E27FC236}">
                  <a16:creationId xmlns:a16="http://schemas.microsoft.com/office/drawing/2014/main" id="{268A7DEB-D5AE-CFB5-798D-1E991BEC2598}"/>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59;p34">
              <a:extLst>
                <a:ext uri="{FF2B5EF4-FFF2-40B4-BE49-F238E27FC236}">
                  <a16:creationId xmlns:a16="http://schemas.microsoft.com/office/drawing/2014/main" id="{C9602E99-DD38-511F-0168-D433F6C4E7CB}"/>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60;p34">
              <a:extLst>
                <a:ext uri="{FF2B5EF4-FFF2-40B4-BE49-F238E27FC236}">
                  <a16:creationId xmlns:a16="http://schemas.microsoft.com/office/drawing/2014/main" id="{B51763B8-A9B1-DD8C-4EBA-B1FC205B65B3}"/>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 name="Google Shape;103;p18">
            <a:extLst>
              <a:ext uri="{FF2B5EF4-FFF2-40B4-BE49-F238E27FC236}">
                <a16:creationId xmlns:a16="http://schemas.microsoft.com/office/drawing/2014/main" id="{303EDB6F-2B85-AEE4-8D0F-921AE3D5C6D1}"/>
              </a:ext>
            </a:extLst>
          </p:cNvPr>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Wazuh Dashboard</a:t>
            </a:r>
            <a:endParaRPr sz="2400" dirty="0"/>
          </a:p>
        </p:txBody>
      </p:sp>
    </p:spTree>
    <p:extLst>
      <p:ext uri="{BB962C8B-B14F-4D97-AF65-F5344CB8AC3E}">
        <p14:creationId xmlns:p14="http://schemas.microsoft.com/office/powerpoint/2010/main" val="83913096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New Technology implemented: Grafana</a:t>
            </a:r>
            <a:endParaRPr sz="2400" dirty="0"/>
          </a:p>
        </p:txBody>
      </p:sp>
      <p:grpSp>
        <p:nvGrpSpPr>
          <p:cNvPr id="21" name="Group 20">
            <a:extLst>
              <a:ext uri="{FF2B5EF4-FFF2-40B4-BE49-F238E27FC236}">
                <a16:creationId xmlns:a16="http://schemas.microsoft.com/office/drawing/2014/main" id="{BF0801C1-FA7F-2233-C32D-4452666E1AAE}"/>
              </a:ext>
            </a:extLst>
          </p:cNvPr>
          <p:cNvGrpSpPr/>
          <p:nvPr/>
        </p:nvGrpSpPr>
        <p:grpSpPr>
          <a:xfrm>
            <a:off x="2608249" y="967884"/>
            <a:ext cx="3927501" cy="2301076"/>
            <a:chOff x="1996996" y="870155"/>
            <a:chExt cx="5147174" cy="3015668"/>
          </a:xfrm>
        </p:grpSpPr>
        <p:pic>
          <p:nvPicPr>
            <p:cNvPr id="20" name="Google Shape;362;p34">
              <a:extLst>
                <a:ext uri="{FF2B5EF4-FFF2-40B4-BE49-F238E27FC236}">
                  <a16:creationId xmlns:a16="http://schemas.microsoft.com/office/drawing/2014/main" id="{DA6928A5-FCBC-691D-6EF9-DB0EB3BEF5BB}"/>
                </a:ext>
              </a:extLst>
            </p:cNvPr>
            <p:cNvPicPr preferRelativeResize="0"/>
            <p:nvPr/>
          </p:nvPicPr>
          <p:blipFill>
            <a:blip r:embed="rId3"/>
            <a:srcRect l="2633" r="2633"/>
            <a:stretch/>
          </p:blipFill>
          <p:spPr>
            <a:xfrm>
              <a:off x="2511552" y="896628"/>
              <a:ext cx="4210114" cy="2973564"/>
            </a:xfrm>
            <a:prstGeom prst="rect">
              <a:avLst/>
            </a:prstGeom>
            <a:noFill/>
            <a:ln>
              <a:noFill/>
            </a:ln>
          </p:spPr>
        </p:pic>
        <p:grpSp>
          <p:nvGrpSpPr>
            <p:cNvPr id="15" name="Google Shape;356;p34">
              <a:extLst>
                <a:ext uri="{FF2B5EF4-FFF2-40B4-BE49-F238E27FC236}">
                  <a16:creationId xmlns:a16="http://schemas.microsoft.com/office/drawing/2014/main" id="{707E89F3-5F06-A116-7EFE-034012A8AC17}"/>
                </a:ext>
              </a:extLst>
            </p:cNvPr>
            <p:cNvGrpSpPr/>
            <p:nvPr/>
          </p:nvGrpSpPr>
          <p:grpSpPr>
            <a:xfrm>
              <a:off x="1996996" y="870155"/>
              <a:ext cx="5147174" cy="3015668"/>
              <a:chOff x="1177450" y="241631"/>
              <a:chExt cx="6173152" cy="3616776"/>
            </a:xfrm>
          </p:grpSpPr>
          <p:sp>
            <p:nvSpPr>
              <p:cNvPr id="16" name="Google Shape;357;p34">
                <a:extLst>
                  <a:ext uri="{FF2B5EF4-FFF2-40B4-BE49-F238E27FC236}">
                    <a16:creationId xmlns:a16="http://schemas.microsoft.com/office/drawing/2014/main" id="{FE7396C6-5166-E1B6-1AE8-129F054BF3DE}"/>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58;p34">
                <a:extLst>
                  <a:ext uri="{FF2B5EF4-FFF2-40B4-BE49-F238E27FC236}">
                    <a16:creationId xmlns:a16="http://schemas.microsoft.com/office/drawing/2014/main" id="{EEE8898C-136A-BFB4-9F7F-5D946858F757}"/>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59;p34">
                <a:extLst>
                  <a:ext uri="{FF2B5EF4-FFF2-40B4-BE49-F238E27FC236}">
                    <a16:creationId xmlns:a16="http://schemas.microsoft.com/office/drawing/2014/main" id="{9B985785-D94C-45BB-341E-1C19CDF91522}"/>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60;p34">
                <a:extLst>
                  <a:ext uri="{FF2B5EF4-FFF2-40B4-BE49-F238E27FC236}">
                    <a16:creationId xmlns:a16="http://schemas.microsoft.com/office/drawing/2014/main" id="{F13968F3-1977-144B-F22F-3D30E7591E33}"/>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8" name="Google Shape;94;p17">
            <a:extLst>
              <a:ext uri="{FF2B5EF4-FFF2-40B4-BE49-F238E27FC236}">
                <a16:creationId xmlns:a16="http://schemas.microsoft.com/office/drawing/2014/main" id="{E4324B4B-0E33-0BAB-AAFE-3E917BF72D7E}"/>
              </a:ext>
            </a:extLst>
          </p:cNvPr>
          <p:cNvSpPr txBox="1">
            <a:spLocks/>
          </p:cNvSpPr>
          <p:nvPr/>
        </p:nvSpPr>
        <p:spPr>
          <a:xfrm>
            <a:off x="796010" y="3433574"/>
            <a:ext cx="195298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endParaRPr lang="en-US" sz="2400" dirty="0"/>
          </a:p>
          <a:p>
            <a:r>
              <a:rPr lang="en-US" sz="2400" dirty="0"/>
              <a:t>Real-Time </a:t>
            </a:r>
          </a:p>
          <a:p>
            <a:r>
              <a:rPr lang="en-US" sz="2400" dirty="0"/>
              <a:t>Dashboard</a:t>
            </a:r>
          </a:p>
        </p:txBody>
      </p:sp>
      <p:sp>
        <p:nvSpPr>
          <p:cNvPr id="29" name="Google Shape;94;p17">
            <a:extLst>
              <a:ext uri="{FF2B5EF4-FFF2-40B4-BE49-F238E27FC236}">
                <a16:creationId xmlns:a16="http://schemas.microsoft.com/office/drawing/2014/main" id="{C8B44103-5673-70A4-2D91-BB3887FA89D6}"/>
              </a:ext>
            </a:extLst>
          </p:cNvPr>
          <p:cNvSpPr txBox="1">
            <a:spLocks/>
          </p:cNvSpPr>
          <p:nvPr/>
        </p:nvSpPr>
        <p:spPr>
          <a:xfrm>
            <a:off x="2883145" y="3482709"/>
            <a:ext cx="3390877"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algn="ctr"/>
            <a:r>
              <a:rPr lang="en-US" sz="2400" dirty="0"/>
              <a:t>Incident Timeline</a:t>
            </a:r>
          </a:p>
          <a:p>
            <a:pPr algn="ctr"/>
            <a:r>
              <a:rPr lang="en-US" sz="2400" dirty="0"/>
              <a:t>Tracking</a:t>
            </a:r>
          </a:p>
        </p:txBody>
      </p:sp>
      <p:sp>
        <p:nvSpPr>
          <p:cNvPr id="30" name="Google Shape;94;p17">
            <a:extLst>
              <a:ext uri="{FF2B5EF4-FFF2-40B4-BE49-F238E27FC236}">
                <a16:creationId xmlns:a16="http://schemas.microsoft.com/office/drawing/2014/main" id="{E9CC0ABA-19D1-EFF6-7937-9FFD8682B8BA}"/>
              </a:ext>
            </a:extLst>
          </p:cNvPr>
          <p:cNvSpPr txBox="1">
            <a:spLocks/>
          </p:cNvSpPr>
          <p:nvPr/>
        </p:nvSpPr>
        <p:spPr>
          <a:xfrm>
            <a:off x="5373873" y="3421647"/>
            <a:ext cx="426390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algn="ctr"/>
            <a:r>
              <a:rPr lang="en-US" sz="2400" dirty="0"/>
              <a:t>Agent Status</a:t>
            </a:r>
          </a:p>
          <a:p>
            <a:pPr algn="ctr"/>
            <a:r>
              <a:rPr lang="en-US" sz="2400" dirty="0"/>
              <a:t>Monitoring</a:t>
            </a:r>
          </a:p>
        </p:txBody>
      </p:sp>
      <p:sp>
        <p:nvSpPr>
          <p:cNvPr id="38" name="Rectangle 37">
            <a:extLst>
              <a:ext uri="{FF2B5EF4-FFF2-40B4-BE49-F238E27FC236}">
                <a16:creationId xmlns:a16="http://schemas.microsoft.com/office/drawing/2014/main" id="{07C6A3B8-6D28-7E40-26AE-48F5C9B22E28}"/>
              </a:ext>
            </a:extLst>
          </p:cNvPr>
          <p:cNvSpPr/>
          <p:nvPr/>
        </p:nvSpPr>
        <p:spPr>
          <a:xfrm>
            <a:off x="661854" y="3466539"/>
            <a:ext cx="8075770" cy="6055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3E7AF53-44E8-4D3F-CA68-579DA9D51BA8}"/>
              </a:ext>
            </a:extLst>
          </p:cNvPr>
          <p:cNvSpPr/>
          <p:nvPr/>
        </p:nvSpPr>
        <p:spPr>
          <a:xfrm rot="5400000" flipV="1">
            <a:off x="1338502" y="3656571"/>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85A7E80-9702-DE50-EB4E-24E4C8DAA533}"/>
              </a:ext>
            </a:extLst>
          </p:cNvPr>
          <p:cNvSpPr/>
          <p:nvPr/>
        </p:nvSpPr>
        <p:spPr>
          <a:xfrm rot="5400000" flipV="1">
            <a:off x="4366119" y="3656570"/>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869F12C-114B-39C6-5573-D3BEED2564E1}"/>
              </a:ext>
            </a:extLst>
          </p:cNvPr>
          <p:cNvSpPr/>
          <p:nvPr/>
        </p:nvSpPr>
        <p:spPr>
          <a:xfrm rot="5400000" flipV="1">
            <a:off x="7292931" y="3657500"/>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BDF875-9653-E53A-189C-413575D5A8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6" name="Picture 5" descr="A screenshot of a computer&#10;&#10;AI-generated content may be incorrect.">
            <a:extLst>
              <a:ext uri="{FF2B5EF4-FFF2-40B4-BE49-F238E27FC236}">
                <a16:creationId xmlns:a16="http://schemas.microsoft.com/office/drawing/2014/main" id="{02ADB5BA-E163-2F64-AA2F-4064399688F3}"/>
              </a:ext>
            </a:extLst>
          </p:cNvPr>
          <p:cNvPicPr>
            <a:picLocks noChangeAspect="1"/>
          </p:cNvPicPr>
          <p:nvPr/>
        </p:nvPicPr>
        <p:blipFill>
          <a:blip r:embed="rId3"/>
          <a:stretch>
            <a:fillRect/>
          </a:stretch>
        </p:blipFill>
        <p:spPr>
          <a:xfrm>
            <a:off x="1168400" y="311150"/>
            <a:ext cx="6807200" cy="4521200"/>
          </a:xfrm>
          <a:prstGeom prst="rect">
            <a:avLst/>
          </a:prstGeom>
        </p:spPr>
      </p:pic>
      <p:sp>
        <p:nvSpPr>
          <p:cNvPr id="7" name="Rectangle 6">
            <a:extLst>
              <a:ext uri="{FF2B5EF4-FFF2-40B4-BE49-F238E27FC236}">
                <a16:creationId xmlns:a16="http://schemas.microsoft.com/office/drawing/2014/main" id="{29A71E7D-B0E6-B37F-F456-2EB5E16DB49D}"/>
              </a:ext>
            </a:extLst>
          </p:cNvPr>
          <p:cNvSpPr/>
          <p:nvPr/>
        </p:nvSpPr>
        <p:spPr>
          <a:xfrm>
            <a:off x="2003612" y="1943698"/>
            <a:ext cx="2380129" cy="100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013723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B0E79E-4CC0-1A68-1589-078A920CF7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6" name="Picture 5">
            <a:extLst>
              <a:ext uri="{FF2B5EF4-FFF2-40B4-BE49-F238E27FC236}">
                <a16:creationId xmlns:a16="http://schemas.microsoft.com/office/drawing/2014/main" id="{A3F148F5-F63A-6108-003D-20162459AD8A}"/>
              </a:ext>
            </a:extLst>
          </p:cNvPr>
          <p:cNvPicPr>
            <a:picLocks noChangeAspect="1"/>
          </p:cNvPicPr>
          <p:nvPr/>
        </p:nvPicPr>
        <p:blipFill>
          <a:blip r:embed="rId3"/>
          <a:stretch>
            <a:fillRect/>
          </a:stretch>
        </p:blipFill>
        <p:spPr>
          <a:xfrm>
            <a:off x="1471079" y="257493"/>
            <a:ext cx="6201841" cy="4628513"/>
          </a:xfrm>
          <a:prstGeom prst="rect">
            <a:avLst/>
          </a:prstGeom>
        </p:spPr>
      </p:pic>
    </p:spTree>
    <p:extLst>
      <p:ext uri="{BB962C8B-B14F-4D97-AF65-F5344CB8AC3E}">
        <p14:creationId xmlns:p14="http://schemas.microsoft.com/office/powerpoint/2010/main" val="215224080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C3E308-E488-2041-34C8-8ECF8B1171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6" name="Picture 5" descr="A screenshot of a computer&#10;&#10;AI-generated content may be incorrect.">
            <a:extLst>
              <a:ext uri="{FF2B5EF4-FFF2-40B4-BE49-F238E27FC236}">
                <a16:creationId xmlns:a16="http://schemas.microsoft.com/office/drawing/2014/main" id="{185F81E7-E41D-D236-842C-63EA23625B2A}"/>
              </a:ext>
            </a:extLst>
          </p:cNvPr>
          <p:cNvPicPr>
            <a:picLocks noChangeAspect="1"/>
          </p:cNvPicPr>
          <p:nvPr/>
        </p:nvPicPr>
        <p:blipFill>
          <a:blip r:embed="rId2"/>
          <a:stretch>
            <a:fillRect/>
          </a:stretch>
        </p:blipFill>
        <p:spPr>
          <a:xfrm>
            <a:off x="1028700" y="589056"/>
            <a:ext cx="7264400" cy="4064875"/>
          </a:xfrm>
          <a:prstGeom prst="rect">
            <a:avLst/>
          </a:prstGeom>
        </p:spPr>
      </p:pic>
    </p:spTree>
    <p:extLst>
      <p:ext uri="{BB962C8B-B14F-4D97-AF65-F5344CB8AC3E}">
        <p14:creationId xmlns:p14="http://schemas.microsoft.com/office/powerpoint/2010/main" val="401157225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A5A25A-DAFB-2285-3DE5-F8291057FAE6}"/>
              </a:ext>
            </a:extLst>
          </p:cNvPr>
          <p:cNvGrpSpPr/>
          <p:nvPr/>
        </p:nvGrpSpPr>
        <p:grpSpPr>
          <a:xfrm>
            <a:off x="1990644" y="1092901"/>
            <a:ext cx="5162711" cy="2957697"/>
            <a:chOff x="682171" y="478972"/>
            <a:chExt cx="7798413" cy="4467680"/>
          </a:xfrm>
        </p:grpSpPr>
        <p:pic>
          <p:nvPicPr>
            <p:cNvPr id="10" name="Picture 9" descr="A screenshot of a computer&#10;&#10;AI-generated content may be incorrect.">
              <a:extLst>
                <a:ext uri="{FF2B5EF4-FFF2-40B4-BE49-F238E27FC236}">
                  <a16:creationId xmlns:a16="http://schemas.microsoft.com/office/drawing/2014/main" id="{EBB3AFDC-ECFB-00E4-4A98-A3CB4710D58F}"/>
                </a:ext>
              </a:extLst>
            </p:cNvPr>
            <p:cNvPicPr>
              <a:picLocks noChangeAspect="1"/>
            </p:cNvPicPr>
            <p:nvPr/>
          </p:nvPicPr>
          <p:blipFill>
            <a:blip r:embed="rId3"/>
            <a:stretch>
              <a:fillRect/>
            </a:stretch>
          </p:blipFill>
          <p:spPr>
            <a:xfrm>
              <a:off x="1319905" y="558203"/>
              <a:ext cx="6504189" cy="4267810"/>
            </a:xfrm>
            <a:prstGeom prst="rect">
              <a:avLst/>
            </a:prstGeom>
          </p:spPr>
        </p:pic>
        <p:grpSp>
          <p:nvGrpSpPr>
            <p:cNvPr id="13" name="Google Shape;356;p34">
              <a:extLst>
                <a:ext uri="{FF2B5EF4-FFF2-40B4-BE49-F238E27FC236}">
                  <a16:creationId xmlns:a16="http://schemas.microsoft.com/office/drawing/2014/main" id="{D14E0B62-9E24-DE1C-1D59-32F9E3C62F9C}"/>
                </a:ext>
              </a:extLst>
            </p:cNvPr>
            <p:cNvGrpSpPr/>
            <p:nvPr/>
          </p:nvGrpSpPr>
          <p:grpSpPr>
            <a:xfrm>
              <a:off x="682171" y="478972"/>
              <a:ext cx="7798413" cy="4467680"/>
              <a:chOff x="1177450" y="241631"/>
              <a:chExt cx="6173152" cy="3616776"/>
            </a:xfrm>
          </p:grpSpPr>
          <p:sp>
            <p:nvSpPr>
              <p:cNvPr id="14" name="Google Shape;357;p34">
                <a:extLst>
                  <a:ext uri="{FF2B5EF4-FFF2-40B4-BE49-F238E27FC236}">
                    <a16:creationId xmlns:a16="http://schemas.microsoft.com/office/drawing/2014/main" id="{C5E0180D-5427-8FB5-65CD-2AB28FB075C1}"/>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58;p34">
                <a:extLst>
                  <a:ext uri="{FF2B5EF4-FFF2-40B4-BE49-F238E27FC236}">
                    <a16:creationId xmlns:a16="http://schemas.microsoft.com/office/drawing/2014/main" id="{3B9AE850-0662-5CAF-EC0E-94D296A50165}"/>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359;p34">
                <a:extLst>
                  <a:ext uri="{FF2B5EF4-FFF2-40B4-BE49-F238E27FC236}">
                    <a16:creationId xmlns:a16="http://schemas.microsoft.com/office/drawing/2014/main" id="{C5744929-46B6-35ED-1EBC-7FD34DB694E1}"/>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60;p34">
                <a:extLst>
                  <a:ext uri="{FF2B5EF4-FFF2-40B4-BE49-F238E27FC236}">
                    <a16:creationId xmlns:a16="http://schemas.microsoft.com/office/drawing/2014/main" id="{2C8664CE-F591-6A65-EEC1-F996D74FAD8B}"/>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9" name="Google Shape;103;p18">
            <a:extLst>
              <a:ext uri="{FF2B5EF4-FFF2-40B4-BE49-F238E27FC236}">
                <a16:creationId xmlns:a16="http://schemas.microsoft.com/office/drawing/2014/main" id="{82EB2014-EA0A-C0BB-BEEE-5390EA2C93B5}"/>
              </a:ext>
            </a:extLst>
          </p:cNvPr>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Discord Alerts</a:t>
            </a:r>
            <a:endParaRPr sz="2400" dirty="0"/>
          </a:p>
        </p:txBody>
      </p:sp>
    </p:spTree>
    <p:extLst>
      <p:ext uri="{BB962C8B-B14F-4D97-AF65-F5344CB8AC3E}">
        <p14:creationId xmlns:p14="http://schemas.microsoft.com/office/powerpoint/2010/main" val="169300754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580549" y="205975"/>
            <a:ext cx="7438985"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Final R</a:t>
            </a:r>
            <a:r>
              <a:rPr lang="en-US" dirty="0"/>
              <a:t>e</a:t>
            </a:r>
            <a:r>
              <a:rPr lang="en" dirty="0"/>
              <a:t>sults: Mini SOC Achievement</a:t>
            </a:r>
            <a:endParaRPr dirty="0"/>
          </a:p>
        </p:txBody>
      </p:sp>
      <p:sp>
        <p:nvSpPr>
          <p:cNvPr id="296" name="Google Shape;296;p30"/>
          <p:cNvSpPr txBox="1">
            <a:spLocks noGrp="1"/>
          </p:cNvSpPr>
          <p:nvPr>
            <p:ph type="body" idx="1"/>
          </p:nvPr>
        </p:nvSpPr>
        <p:spPr>
          <a:xfrm>
            <a:off x="883347" y="1684895"/>
            <a:ext cx="2005800" cy="1946704"/>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b="1" dirty="0">
                <a:latin typeface="Muli"/>
                <a:ea typeface="Muli"/>
                <a:cs typeface="Muli"/>
                <a:sym typeface="Muli"/>
              </a:rPr>
              <a:t>Fully operational SOC</a:t>
            </a:r>
            <a:endParaRPr b="1" dirty="0">
              <a:latin typeface="Muli"/>
              <a:ea typeface="Muli"/>
              <a:cs typeface="Muli"/>
              <a:sym typeface="Muli"/>
            </a:endParaRPr>
          </a:p>
          <a:p>
            <a:pPr marL="0" lvl="0" indent="0" algn="l" rtl="0">
              <a:lnSpc>
                <a:spcPct val="100000"/>
              </a:lnSpc>
              <a:spcBef>
                <a:spcPts val="600"/>
              </a:spcBef>
              <a:spcAft>
                <a:spcPts val="0"/>
              </a:spcAft>
              <a:buNone/>
            </a:pPr>
            <a:r>
              <a:rPr lang="en" sz="1200" dirty="0"/>
              <a:t>Successfully implemented a complete Mini SOC capable of real-time threat detection, automated alert generation, and comprehensive security monitoring across all network segments.</a:t>
            </a:r>
            <a:endParaRPr sz="1200" dirty="0"/>
          </a:p>
        </p:txBody>
      </p:sp>
      <p:sp>
        <p:nvSpPr>
          <p:cNvPr id="12" name="Google Shape;296;p30">
            <a:extLst>
              <a:ext uri="{FF2B5EF4-FFF2-40B4-BE49-F238E27FC236}">
                <a16:creationId xmlns:a16="http://schemas.microsoft.com/office/drawing/2014/main" id="{C411B701-2F92-B01C-26DB-F7E87D5192F5}"/>
              </a:ext>
            </a:extLst>
          </p:cNvPr>
          <p:cNvSpPr txBox="1">
            <a:spLocks/>
          </p:cNvSpPr>
          <p:nvPr/>
        </p:nvSpPr>
        <p:spPr>
          <a:xfrm>
            <a:off x="3661500" y="1684895"/>
            <a:ext cx="2005800" cy="194670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lnSpc>
                <a:spcPct val="100000"/>
              </a:lnSpc>
              <a:buFont typeface="Muli"/>
              <a:buNone/>
            </a:pPr>
            <a:r>
              <a:rPr lang="en-US" b="1" dirty="0"/>
              <a:t>Advanced Attack Detection</a:t>
            </a:r>
          </a:p>
          <a:p>
            <a:pPr marL="0" indent="0">
              <a:lnSpc>
                <a:spcPct val="100000"/>
              </a:lnSpc>
              <a:buFont typeface="Muli"/>
              <a:buNone/>
            </a:pPr>
            <a:r>
              <a:rPr lang="en-US" sz="1200" dirty="0"/>
              <a:t>Achieved sophisticated attack detection capabilities using Wazuh SIEM, successfully identifying multiple attack vectors, suspicious activities, and security vulnerabilities during testing phases.</a:t>
            </a:r>
          </a:p>
        </p:txBody>
      </p:sp>
      <p:sp>
        <p:nvSpPr>
          <p:cNvPr id="13" name="Google Shape;296;p30">
            <a:extLst>
              <a:ext uri="{FF2B5EF4-FFF2-40B4-BE49-F238E27FC236}">
                <a16:creationId xmlns:a16="http://schemas.microsoft.com/office/drawing/2014/main" id="{EE4B5737-2F23-9A87-0D54-2142600F6CEE}"/>
              </a:ext>
            </a:extLst>
          </p:cNvPr>
          <p:cNvSpPr txBox="1">
            <a:spLocks/>
          </p:cNvSpPr>
          <p:nvPr/>
        </p:nvSpPr>
        <p:spPr>
          <a:xfrm>
            <a:off x="6254853" y="1684895"/>
            <a:ext cx="2005800" cy="194670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lnSpc>
                <a:spcPct val="100000"/>
              </a:lnSpc>
              <a:buFont typeface="Muli"/>
              <a:buNone/>
            </a:pPr>
            <a:r>
              <a:rPr lang="en-US" b="1" dirty="0"/>
              <a:t>Seamless Tool Integration</a:t>
            </a:r>
          </a:p>
          <a:p>
            <a:pPr marL="0" indent="0">
              <a:lnSpc>
                <a:spcPct val="100000"/>
              </a:lnSpc>
              <a:buNone/>
            </a:pPr>
            <a:r>
              <a:rPr lang="en-US" sz="1200" dirty="0"/>
              <a:t>Established perfect integration between Grafana visualization platform and Wazuh SIEM, creating a unified security operations environment with automated data correlation and reporting.</a:t>
            </a:r>
          </a:p>
          <a:p>
            <a:pPr marL="0" indent="0">
              <a:lnSpc>
                <a:spcPct val="100000"/>
              </a:lnSpc>
              <a:buFont typeface="Muli"/>
              <a:buNone/>
            </a:pPr>
            <a:endParaRPr lang="en-US" sz="1200" dirty="0"/>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body" idx="1"/>
          </p:nvPr>
        </p:nvSpPr>
        <p:spPr>
          <a:xfrm>
            <a:off x="1230725" y="1609557"/>
            <a:ext cx="6682550" cy="3693600"/>
          </a:xfrm>
          <a:prstGeom prst="rect">
            <a:avLst/>
          </a:prstGeom>
        </p:spPr>
        <p:txBody>
          <a:bodyPr spcFirstLastPara="1" wrap="square" lIns="0" tIns="0" rIns="0" bIns="0" anchor="t" anchorCtr="0">
            <a:noAutofit/>
          </a:bodyPr>
          <a:lstStyle/>
          <a:p>
            <a:pPr marL="38100" indent="0" algn="ctr">
              <a:buNone/>
            </a:pPr>
            <a:r>
              <a:rPr lang="en-US" sz="1600" dirty="0"/>
              <a:t>This project demonstrates how creativity in design thinking can be successfully applied to cybersecurity challenges. The Mini SOC implementation represents a strong foundational step toward building a successful SOC Analyst career, combining technical expertise with innovative problem-solving approaches to create comprehensive security solutions.</a:t>
            </a: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8"/>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2.</a:t>
            </a:r>
            <a:br>
              <a:rPr lang="en"/>
            </a:br>
            <a:r>
              <a:rPr lang="en"/>
              <a:t>Extra Resources</a:t>
            </a:r>
            <a:endParaRPr/>
          </a:p>
        </p:txBody>
      </p:sp>
      <p:sp>
        <p:nvSpPr>
          <p:cNvPr id="393" name="Google Shape;393;p38"/>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For Business Plans, Marketing Plans, Project Proposals, Lessons, etc</a:t>
            </a:r>
            <a:endParaRPr/>
          </a:p>
        </p:txBody>
      </p:sp>
      <p:pic>
        <p:nvPicPr>
          <p:cNvPr id="394" name="Google Shape;394;p38"/>
          <p:cNvPicPr preferRelativeResize="0"/>
          <p:nvPr/>
        </p:nvPicPr>
        <p:blipFill>
          <a:blip r:embed="rId3">
            <a:alphaModFix/>
          </a:blip>
          <a:stretch>
            <a:fillRect/>
          </a:stretch>
        </p:blipFill>
        <p:spPr>
          <a:xfrm>
            <a:off x="5983976" y="1373675"/>
            <a:ext cx="1519400" cy="1731550"/>
          </a:xfrm>
          <a:prstGeom prst="rect">
            <a:avLst/>
          </a:prstGeom>
          <a:noFill/>
          <a:ln>
            <a:noFill/>
          </a:ln>
        </p:spPr>
      </p:pic>
      <p:sp>
        <p:nvSpPr>
          <p:cNvPr id="2" name="Rectangle 1">
            <a:extLst>
              <a:ext uri="{FF2B5EF4-FFF2-40B4-BE49-F238E27FC236}">
                <a16:creationId xmlns:a16="http://schemas.microsoft.com/office/drawing/2014/main" id="{C50474FB-839E-361A-DD34-5EE34F0A8F40}"/>
              </a:ext>
            </a:extLst>
          </p:cNvPr>
          <p:cNvSpPr/>
          <p:nvPr/>
        </p:nvSpPr>
        <p:spPr>
          <a:xfrm>
            <a:off x="0" y="0"/>
            <a:ext cx="9144000"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qr code on a white background&#10;&#10;AI-generated content may be incorrect.">
            <a:extLst>
              <a:ext uri="{FF2B5EF4-FFF2-40B4-BE49-F238E27FC236}">
                <a16:creationId xmlns:a16="http://schemas.microsoft.com/office/drawing/2014/main" id="{01DAA521-904D-EE1E-52CF-1D5A85885822}"/>
              </a:ext>
            </a:extLst>
          </p:cNvPr>
          <p:cNvPicPr>
            <a:picLocks noChangeAspect="1"/>
          </p:cNvPicPr>
          <p:nvPr/>
        </p:nvPicPr>
        <p:blipFill>
          <a:blip r:embed="rId4"/>
          <a:stretch>
            <a:fillRect/>
          </a:stretch>
        </p:blipFill>
        <p:spPr>
          <a:xfrm>
            <a:off x="3749964" y="1718012"/>
            <a:ext cx="1644071" cy="1644071"/>
          </a:xfrm>
          <a:prstGeom prst="rect">
            <a:avLst/>
          </a:prstGeom>
        </p:spPr>
      </p:pic>
      <p:sp>
        <p:nvSpPr>
          <p:cNvPr id="4" name="Text 0">
            <a:extLst>
              <a:ext uri="{FF2B5EF4-FFF2-40B4-BE49-F238E27FC236}">
                <a16:creationId xmlns:a16="http://schemas.microsoft.com/office/drawing/2014/main" id="{714098A4-2936-F8E1-9229-99EF1F248DDA}"/>
              </a:ext>
            </a:extLst>
          </p:cNvPr>
          <p:cNvSpPr/>
          <p:nvPr/>
        </p:nvSpPr>
        <p:spPr>
          <a:xfrm>
            <a:off x="0" y="943791"/>
            <a:ext cx="9144000" cy="436120"/>
          </a:xfrm>
          <a:prstGeom prst="rect">
            <a:avLst/>
          </a:prstGeom>
          <a:noFill/>
          <a:ln/>
        </p:spPr>
        <p:txBody>
          <a:bodyPr wrap="none" lIns="0" tIns="0" rIns="0" bIns="0" rtlCol="0" anchor="t"/>
          <a:lstStyle/>
          <a:p>
            <a:pPr algn="ctr">
              <a:lnSpc>
                <a:spcPts val="2750"/>
              </a:lnSpc>
            </a:pPr>
            <a:r>
              <a:rPr lang="en-US" sz="3200" b="1" dirty="0">
                <a:solidFill>
                  <a:srgbClr val="000000"/>
                </a:solidFill>
                <a:latin typeface="Inter Bold" pitchFamily="34" charset="0"/>
                <a:ea typeface="Inter Bold" pitchFamily="34" charset="-122"/>
                <a:cs typeface="Inter Bold" pitchFamily="34" charset="-120"/>
              </a:rPr>
              <a:t>Thank You</a:t>
            </a:r>
            <a:endParaRPr lang="en-US" sz="3200" dirty="0"/>
          </a:p>
        </p:txBody>
      </p:sp>
      <p:sp>
        <p:nvSpPr>
          <p:cNvPr id="6" name="Text 13">
            <a:extLst>
              <a:ext uri="{FF2B5EF4-FFF2-40B4-BE49-F238E27FC236}">
                <a16:creationId xmlns:a16="http://schemas.microsoft.com/office/drawing/2014/main" id="{B0565003-5155-CCE5-7DB7-256D148F4540}"/>
              </a:ext>
            </a:extLst>
          </p:cNvPr>
          <p:cNvSpPr/>
          <p:nvPr/>
        </p:nvSpPr>
        <p:spPr>
          <a:xfrm>
            <a:off x="2076671" y="3876582"/>
            <a:ext cx="5368647" cy="181451"/>
          </a:xfrm>
          <a:prstGeom prst="rect">
            <a:avLst/>
          </a:prstGeom>
          <a:noFill/>
          <a:ln/>
        </p:spPr>
        <p:txBody>
          <a:bodyPr wrap="none" lIns="0" tIns="0" rIns="0" bIns="0" rtlCol="0" anchor="t"/>
          <a:lstStyle/>
          <a:p>
            <a:pPr algn="ctr">
              <a:lnSpc>
                <a:spcPts val="1400"/>
              </a:lnSpc>
            </a:pPr>
            <a:r>
              <a:rPr lang="en-US" sz="2400" dirty="0">
                <a:solidFill>
                  <a:srgbClr val="272525"/>
                </a:solidFill>
                <a:latin typeface="Inter" pitchFamily="34" charset="0"/>
                <a:ea typeface="Inter" pitchFamily="34" charset="-122"/>
                <a:cs typeface="Inter" pitchFamily="34" charset="-120"/>
              </a:rPr>
              <a:t>Javier Napoles | jnapfx@gmail.com</a:t>
            </a:r>
            <a:endParaRPr lang="en-US" sz="2400" dirty="0"/>
          </a:p>
        </p:txBody>
      </p:sp>
    </p:spTree>
  </p:cSld>
  <p:clrMapOvr>
    <a:masterClrMapping/>
  </p:clrMapOvr>
  <p:transition spd="slow">
    <p:push dir="u"/>
  </p:transition>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873</TotalTime>
  <Words>1286</Words>
  <Application>Microsoft Macintosh PowerPoint</Application>
  <PresentationFormat>On-screen Show (16:9)</PresentationFormat>
  <Paragraphs>152</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Muli</vt:lpstr>
      <vt:lpstr>Lexend Deca</vt:lpstr>
      <vt:lpstr>Arial</vt:lpstr>
      <vt:lpstr>Inter Bold</vt:lpstr>
      <vt:lpstr>Inter</vt:lpstr>
      <vt:lpstr>Calibri</vt:lpstr>
      <vt:lpstr>Aliena template</vt:lpstr>
      <vt:lpstr>STATUS_UPD 9-25-25</vt:lpstr>
      <vt:lpstr>Hello!</vt:lpstr>
      <vt:lpstr>What is a SOC Analyst?</vt:lpstr>
      <vt:lpstr>Why I chose this career path</vt:lpstr>
      <vt:lpstr>About my project</vt:lpstr>
      <vt:lpstr>Divide &amp; Defend:</vt:lpstr>
      <vt:lpstr>Tools used in the Project</vt:lpstr>
      <vt:lpstr>SOC Implementation Work Process</vt:lpstr>
      <vt:lpstr>Project Diagram</vt:lpstr>
      <vt:lpstr>Wazuh Dashboard</vt:lpstr>
      <vt:lpstr>New Technology implemented: Grafana</vt:lpstr>
      <vt:lpstr>PowerPoint Presentation</vt:lpstr>
      <vt:lpstr>PowerPoint Presentation</vt:lpstr>
      <vt:lpstr>PowerPoint Presentation</vt:lpstr>
      <vt:lpstr>Discord Alerts</vt:lpstr>
      <vt:lpstr>Final Results: Mini SOC Achievement</vt:lpstr>
      <vt:lpstr>PowerPoint Presentation</vt:lpstr>
      <vt:lpstr>2. Extra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Javier Napoles</cp:lastModifiedBy>
  <cp:revision>34</cp:revision>
  <dcterms:modified xsi:type="dcterms:W3CDTF">2025-12-04T17:10:45Z</dcterms:modified>
</cp:coreProperties>
</file>